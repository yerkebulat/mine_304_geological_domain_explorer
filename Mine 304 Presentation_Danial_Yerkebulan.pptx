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85" r:id="rId7"/>
    <p:sldId id="258" r:id="rId8"/>
    <p:sldId id="286" r:id="rId9"/>
    <p:sldId id="260" r:id="rId10"/>
    <p:sldId id="261" r:id="rId11"/>
    <p:sldId id="262" r:id="rId12"/>
    <p:sldId id="287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91" r:id="rId31"/>
    <p:sldId id="280" r:id="rId32"/>
    <p:sldId id="292" r:id="rId33"/>
    <p:sldId id="294" r:id="rId34"/>
    <p:sldId id="282" r:id="rId35"/>
    <p:sldId id="284" r:id="rId36"/>
  </p:sldIdLst>
  <p:sldSz cx="18288000" cy="10287000"/>
  <p:notesSz cx="6858000" cy="9144000"/>
  <p:embeddedFontLst>
    <p:embeddedFont>
      <p:font typeface="IBM Plex Sans" panose="020B0503050203000203" pitchFamily="34" charset="0"/>
      <p:regular r:id="rId37"/>
      <p:bold r:id="rId38"/>
      <p:italic r:id="rId39"/>
      <p:boldItalic r:id="rId40"/>
    </p:embeddedFont>
    <p:embeddedFont>
      <p:font typeface="IBM Plex Sans Bold" panose="020B0803050203000203" charset="0"/>
      <p:regular r:id="rId41"/>
    </p:embeddedFont>
    <p:embeddedFont>
      <p:font typeface="IBM Plex Sans Condensed" panose="020B0506050203000203" pitchFamily="34" charset="0"/>
      <p:regular r:id="rId42"/>
      <p:bold r:id="rId43"/>
      <p:italic r:id="rId44"/>
      <p:boldItalic r:id="rId45"/>
    </p:embeddedFont>
    <p:embeddedFont>
      <p:font typeface="IBM Plex Sans Condensed Bold" panose="020B0806050203000203" charset="0"/>
      <p:regular r:id="rId46"/>
    </p:embeddedFont>
    <p:embeddedFont>
      <p:font typeface="IBM Plex Sans Italics" panose="020B0604020202020204" charset="0"/>
      <p:regular r:id="rId47"/>
    </p:embeddedFont>
    <p:embeddedFont>
      <p:font typeface="Montserrat" panose="00000500000000000000" pitchFamily="2" charset="-52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77"/>
    <a:srgbClr val="376092"/>
    <a:srgbClr val="37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C44219-C4B2-4042-A90E-4A6F7B09424A}" v="54" dt="2026-04-20T13:36:33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6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42461-023-00858-3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4842" y="1022223"/>
            <a:ext cx="494134" cy="5466710"/>
            <a:chOff x="0" y="0"/>
            <a:chExt cx="155804" cy="1723657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8829" cy="424815"/>
            </a:xfrm>
            <a:custGeom>
              <a:avLst/>
              <a:gdLst/>
              <a:ahLst/>
              <a:cxnLst/>
              <a:rect l="l" t="t" r="r" b="b"/>
              <a:pathLst>
                <a:path w="28829" h="424815">
                  <a:moveTo>
                    <a:pt x="0" y="424815"/>
                  </a:moveTo>
                  <a:lnTo>
                    <a:pt x="28829" y="424815"/>
                  </a:lnTo>
                  <a:lnTo>
                    <a:pt x="288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508127"/>
              <a:ext cx="28829" cy="1152017"/>
            </a:xfrm>
            <a:custGeom>
              <a:avLst/>
              <a:gdLst/>
              <a:ahLst/>
              <a:cxnLst/>
              <a:rect l="l" t="t" r="r" b="b"/>
              <a:pathLst>
                <a:path w="28829" h="1152017">
                  <a:moveTo>
                    <a:pt x="0" y="1152017"/>
                  </a:moveTo>
                  <a:lnTo>
                    <a:pt x="28829" y="1152017"/>
                  </a:lnTo>
                  <a:lnTo>
                    <a:pt x="288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9005702"/>
            <a:ext cx="16395809" cy="537726"/>
            <a:chOff x="0" y="0"/>
            <a:chExt cx="5169599" cy="169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9545"/>
            </a:xfrm>
            <a:custGeom>
              <a:avLst/>
              <a:gdLst/>
              <a:ahLst/>
              <a:cxnLst/>
              <a:rect l="l" t="t" r="r" b="b"/>
              <a:pathLst>
                <a:path w="5169535" h="169545">
                  <a:moveTo>
                    <a:pt x="0" y="169545"/>
                  </a:moveTo>
                  <a:lnTo>
                    <a:pt x="5169535" y="169545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11822" y="5228781"/>
            <a:ext cx="11637750" cy="14047"/>
            <a:chOff x="0" y="0"/>
            <a:chExt cx="3669386" cy="4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69411" cy="4445"/>
            </a:xfrm>
            <a:custGeom>
              <a:avLst/>
              <a:gdLst/>
              <a:ahLst/>
              <a:cxnLst/>
              <a:rect l="l" t="t" r="r" b="b"/>
              <a:pathLst>
                <a:path w="3669411" h="4445">
                  <a:moveTo>
                    <a:pt x="0" y="0"/>
                  </a:moveTo>
                  <a:lnTo>
                    <a:pt x="3669411" y="0"/>
                  </a:lnTo>
                  <a:lnTo>
                    <a:pt x="3669411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36247" y="152059"/>
            <a:ext cx="1754014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72787E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MINE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72787E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304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53136" y="152059"/>
            <a:ext cx="3248469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72787E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Paper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72787E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1822" y="937404"/>
            <a:ext cx="12130705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Geological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Domaining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with Unsupervised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Clustering</a:t>
            </a:r>
          </a:p>
          <a:p>
            <a:pPr algn="l">
              <a:lnSpc>
                <a:spcPts val="7425"/>
              </a:lnSpc>
            </a:pP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and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Ensemble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Support</a:t>
            </a:r>
            <a:r>
              <a:rPr lang="en-US" sz="6319" b="1" spc="-25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6319" b="1" spc="-25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Vector Classification</a:t>
            </a:r>
          </a:p>
          <a:p>
            <a:pPr algn="l">
              <a:lnSpc>
                <a:spcPts val="3712"/>
              </a:lnSpc>
            </a:pPr>
            <a:r>
              <a:rPr lang="en-US" sz="3159" spc="-3" dirty="0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Based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 err="1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Koruk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Ortiz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4D5358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(2023)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4992" y="8267799"/>
            <a:ext cx="6846943" cy="48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159" spc="-3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Danial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 err="1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Yerkebulan</a:t>
            </a:r>
            <a:endParaRPr lang="en-US" sz="3159" spc="-3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64992" y="9010741"/>
            <a:ext cx="10804335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paper: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Koruk,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K.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Ortiz,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J.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M.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(2023),</a:t>
            </a:r>
            <a:r>
              <a:rPr lang="en-US" sz="2211" i="1" spc="-28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211" i="1" spc="-28">
                <a:solidFill>
                  <a:srgbClr val="1E1F21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Mining,</a:t>
            </a:r>
            <a:r>
              <a:rPr lang="en-US" sz="2211" i="1" spc="-28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211" i="1" spc="-28">
                <a:solidFill>
                  <a:srgbClr val="1E1F21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Metallurgy</a:t>
            </a:r>
            <a:r>
              <a:rPr lang="en-US" sz="2211" i="1" spc="-28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211" i="1" spc="-28">
                <a:solidFill>
                  <a:srgbClr val="1E1F21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&amp;</a:t>
            </a:r>
            <a:r>
              <a:rPr lang="en-US" sz="2211" i="1" spc="-28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211" i="1" spc="-28">
                <a:solidFill>
                  <a:srgbClr val="1E1F21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Exploration</a:t>
            </a:r>
            <a:r>
              <a:rPr lang="en-US" sz="2211" spc="-28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35640" y="9786130"/>
            <a:ext cx="96655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1/29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14">
            <a:extLst>
              <a:ext uri="{FF2B5EF4-FFF2-40B4-BE49-F238E27FC236}">
                <a16:creationId xmlns:a16="http://schemas.microsoft.com/office/drawing/2014/main" id="{9C1A0C95-B2F3-ABE5-2234-9B9E6BECE453}"/>
              </a:ext>
            </a:extLst>
          </p:cNvPr>
          <p:cNvSpPr/>
          <p:nvPr/>
        </p:nvSpPr>
        <p:spPr>
          <a:xfrm>
            <a:off x="848968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5E5FDAED-A44D-5924-A55A-E98CB48B574E}"/>
              </a:ext>
            </a:extLst>
          </p:cNvPr>
          <p:cNvSpPr/>
          <p:nvPr/>
        </p:nvSpPr>
        <p:spPr>
          <a:xfrm>
            <a:off x="856342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70C4B5B4-0E6B-D026-BF4E-CF630C512D5E}"/>
              </a:ext>
            </a:extLst>
          </p:cNvPr>
          <p:cNvSpPr/>
          <p:nvPr/>
        </p:nvSpPr>
        <p:spPr>
          <a:xfrm>
            <a:off x="856342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312874FE-98E9-DC73-F8FD-9BF2CDBA2316}"/>
              </a:ext>
            </a:extLst>
          </p:cNvPr>
          <p:cNvSpPr/>
          <p:nvPr/>
        </p:nvSpPr>
        <p:spPr>
          <a:xfrm>
            <a:off x="856342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0D7BDA1F-6EB7-69D3-E6F7-E7B5DA1AA53D}"/>
              </a:ext>
            </a:extLst>
          </p:cNvPr>
          <p:cNvSpPr/>
          <p:nvPr/>
        </p:nvSpPr>
        <p:spPr>
          <a:xfrm>
            <a:off x="856342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C6641B2F-0A7F-FCB6-A72A-6A1D90E28AC4}"/>
              </a:ext>
            </a:extLst>
          </p:cNvPr>
          <p:cNvSpPr/>
          <p:nvPr/>
        </p:nvSpPr>
        <p:spPr>
          <a:xfrm>
            <a:off x="856342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56343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0"/>
                  </a:moveTo>
                  <a:lnTo>
                    <a:pt x="0" y="151507"/>
                  </a:lnTo>
                  <a:lnTo>
                    <a:pt x="5759958" y="151507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 dirty="0">
                <a:latin typeface="Computer modern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36247" y="-17210"/>
            <a:ext cx="2163531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Outline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8948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99BBBA56-1648-E5EE-8A06-C04428A9B92E}"/>
              </a:ext>
            </a:extLst>
          </p:cNvPr>
          <p:cNvSpPr txBox="1"/>
          <p:nvPr/>
        </p:nvSpPr>
        <p:spPr>
          <a:xfrm>
            <a:off x="1038948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02296C5E-A63B-5C24-CC8A-82548AA26BF9}"/>
              </a:ext>
            </a:extLst>
          </p:cNvPr>
          <p:cNvSpPr txBox="1"/>
          <p:nvPr/>
        </p:nvSpPr>
        <p:spPr>
          <a:xfrm>
            <a:off x="1043336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261A6674-44BD-EA1C-AF65-7911804C404A}"/>
              </a:ext>
            </a:extLst>
          </p:cNvPr>
          <p:cNvSpPr txBox="1"/>
          <p:nvPr/>
        </p:nvSpPr>
        <p:spPr>
          <a:xfrm>
            <a:off x="1039070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EFEA60DC-CF72-91DF-67BD-2230F3C1DFCF}"/>
              </a:ext>
            </a:extLst>
          </p:cNvPr>
          <p:cNvSpPr txBox="1"/>
          <p:nvPr/>
        </p:nvSpPr>
        <p:spPr>
          <a:xfrm>
            <a:off x="1038947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6904101A-12CF-F17A-675B-C3A95AE4707B}"/>
              </a:ext>
            </a:extLst>
          </p:cNvPr>
          <p:cNvSpPr txBox="1"/>
          <p:nvPr/>
        </p:nvSpPr>
        <p:spPr>
          <a:xfrm>
            <a:off x="1038947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7" name="Freeform 14">
            <a:extLst>
              <a:ext uri="{FF2B5EF4-FFF2-40B4-BE49-F238E27FC236}">
                <a16:creationId xmlns:a16="http://schemas.microsoft.com/office/drawing/2014/main" id="{CC3501C5-7A59-D7B9-3736-013705797FED}"/>
              </a:ext>
            </a:extLst>
          </p:cNvPr>
          <p:cNvSpPr/>
          <p:nvPr/>
        </p:nvSpPr>
        <p:spPr>
          <a:xfrm>
            <a:off x="848967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5057DA1C-A1DD-C138-6920-FF6EDADDEFEF}"/>
              </a:ext>
            </a:extLst>
          </p:cNvPr>
          <p:cNvSpPr txBox="1"/>
          <p:nvPr/>
        </p:nvSpPr>
        <p:spPr>
          <a:xfrm>
            <a:off x="1038947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A2CC128D-CACF-6D8F-C563-CBC8643FAF65}"/>
              </a:ext>
            </a:extLst>
          </p:cNvPr>
          <p:cNvSpPr txBox="1"/>
          <p:nvPr/>
        </p:nvSpPr>
        <p:spPr>
          <a:xfrm>
            <a:off x="1038947" y="178500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280FD6A8-DB1E-F896-F40F-24CED3A13A7F}"/>
              </a:ext>
            </a:extLst>
          </p:cNvPr>
          <p:cNvSpPr txBox="1"/>
          <p:nvPr/>
        </p:nvSpPr>
        <p:spPr>
          <a:xfrm>
            <a:off x="1487294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Introduction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EF6983A7-3E75-35AD-582B-493B59A41B67}"/>
              </a:ext>
            </a:extLst>
          </p:cNvPr>
          <p:cNvSpPr txBox="1"/>
          <p:nvPr/>
        </p:nvSpPr>
        <p:spPr>
          <a:xfrm>
            <a:off x="1487293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 Setting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71F05D1C-E33F-AF08-949C-746654BF3BC3}"/>
              </a:ext>
            </a:extLst>
          </p:cNvPr>
          <p:cNvSpPr txBox="1"/>
          <p:nvPr/>
        </p:nvSpPr>
        <p:spPr>
          <a:xfrm>
            <a:off x="1487287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Objective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F3ED402-C2E1-4774-01FC-67F6CE7DDFA8}"/>
              </a:ext>
            </a:extLst>
          </p:cNvPr>
          <p:cNvSpPr txBox="1"/>
          <p:nvPr/>
        </p:nvSpPr>
        <p:spPr>
          <a:xfrm>
            <a:off x="1487286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Literature Review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FA633209-A446-BB04-F34C-6C8C14B30AAF}"/>
              </a:ext>
            </a:extLst>
          </p:cNvPr>
          <p:cNvSpPr txBox="1"/>
          <p:nvPr/>
        </p:nvSpPr>
        <p:spPr>
          <a:xfrm>
            <a:off x="1487286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0F0FD414-9FE7-8294-9CF0-8964FEB73006}"/>
              </a:ext>
            </a:extLst>
          </p:cNvPr>
          <p:cNvSpPr txBox="1"/>
          <p:nvPr/>
        </p:nvSpPr>
        <p:spPr>
          <a:xfrm>
            <a:off x="1487286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6C09AA66-1E15-4934-245B-ECA2D7519770}"/>
              </a:ext>
            </a:extLst>
          </p:cNvPr>
          <p:cNvSpPr txBox="1"/>
          <p:nvPr/>
        </p:nvSpPr>
        <p:spPr>
          <a:xfrm>
            <a:off x="1487286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1443EEE0-619B-22CD-9D68-0AB73B98B53A}"/>
              </a:ext>
            </a:extLst>
          </p:cNvPr>
          <p:cNvSpPr txBox="1"/>
          <p:nvPr/>
        </p:nvSpPr>
        <p:spPr>
          <a:xfrm>
            <a:off x="1487286" y="178500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 &amp; Conclusion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DF2B2495-A5D0-708B-A93E-96A19831E635}"/>
              </a:ext>
            </a:extLst>
          </p:cNvPr>
          <p:cNvSpPr txBox="1"/>
          <p:nvPr/>
        </p:nvSpPr>
        <p:spPr>
          <a:xfrm>
            <a:off x="16635640" y="9786130"/>
            <a:ext cx="96655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ru-RU" sz="2211" spc="232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r>
              <a:rPr lang="en-US" sz="2211" spc="232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/29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24BA-81B4-2886-A0A0-5D34D2BE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14">
            <a:extLst>
              <a:ext uri="{FF2B5EF4-FFF2-40B4-BE49-F238E27FC236}">
                <a16:creationId xmlns:a16="http://schemas.microsoft.com/office/drawing/2014/main" id="{085F27F4-5E0C-78D5-38A8-AC8AB7ECE938}"/>
              </a:ext>
            </a:extLst>
          </p:cNvPr>
          <p:cNvSpPr/>
          <p:nvPr/>
        </p:nvSpPr>
        <p:spPr>
          <a:xfrm>
            <a:off x="848968" y="7219611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30" name="Freeform 14">
            <a:extLst>
              <a:ext uri="{FF2B5EF4-FFF2-40B4-BE49-F238E27FC236}">
                <a16:creationId xmlns:a16="http://schemas.microsoft.com/office/drawing/2014/main" id="{12D19D45-ED42-DA36-FFB6-6026EB3070C3}"/>
              </a:ext>
            </a:extLst>
          </p:cNvPr>
          <p:cNvSpPr/>
          <p:nvPr/>
        </p:nvSpPr>
        <p:spPr>
          <a:xfrm>
            <a:off x="856342" y="6315671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E38A666F-2207-8520-5341-17B3D0BB15C8}"/>
              </a:ext>
            </a:extLst>
          </p:cNvPr>
          <p:cNvSpPr/>
          <p:nvPr/>
        </p:nvSpPr>
        <p:spPr>
          <a:xfrm>
            <a:off x="856342" y="5410502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89BB5B84-86A5-995D-DFDB-EE1B02672788}"/>
              </a:ext>
            </a:extLst>
          </p:cNvPr>
          <p:cNvSpPr/>
          <p:nvPr/>
        </p:nvSpPr>
        <p:spPr>
          <a:xfrm>
            <a:off x="856342" y="4505333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FE6CE815-EAB6-3A01-5C77-EB5CAA691D53}"/>
              </a:ext>
            </a:extLst>
          </p:cNvPr>
          <p:cNvSpPr/>
          <p:nvPr/>
        </p:nvSpPr>
        <p:spPr>
          <a:xfrm>
            <a:off x="856342" y="3600164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6F1DEE60-91F6-8701-C142-9E5A858F25B7}"/>
              </a:ext>
            </a:extLst>
          </p:cNvPr>
          <p:cNvSpPr/>
          <p:nvPr/>
        </p:nvSpPr>
        <p:spPr>
          <a:xfrm>
            <a:off x="856342" y="2694995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E88F665-7E0B-F63A-742A-8AB1B033CA0A}"/>
              </a:ext>
            </a:extLst>
          </p:cNvPr>
          <p:cNvSpPr/>
          <p:nvPr/>
        </p:nvSpPr>
        <p:spPr>
          <a:xfrm>
            <a:off x="856343" y="1785007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F0116A5-7850-0AFE-D309-ECED4D154CF8}"/>
              </a:ext>
            </a:extLst>
          </p:cNvPr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D6BAC5-ABBB-9901-838D-61600121A498}"/>
                </a:ext>
              </a:extLst>
            </p:cNvPr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164BBC-3D18-41B0-283B-A7C78BB04D29}"/>
                </a:ext>
              </a:extLst>
            </p:cNvPr>
            <p:cNvSpPr/>
            <p:nvPr/>
          </p:nvSpPr>
          <p:spPr>
            <a:xfrm>
              <a:off x="63500" y="67944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0"/>
                  </a:moveTo>
                  <a:lnTo>
                    <a:pt x="0" y="151507"/>
                  </a:lnTo>
                  <a:lnTo>
                    <a:pt x="5759958" y="151507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CC0C664-3807-8A2B-94B0-88EE53862203}"/>
              </a:ext>
            </a:extLst>
          </p:cNvPr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E90BCE4-0A60-A3E1-3936-AEB56EEE3DA8}"/>
                </a:ext>
              </a:extLst>
            </p:cNvPr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 dirty="0">
                <a:latin typeface="Computer modern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F5EF105-E18A-8B42-664E-38F5089FB688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C42D4F6-6C41-AFC4-466E-248A8E95F964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17FB3C4-7F9D-32A2-9F46-467121A73F5E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2C0569E-AEA0-6019-E08B-4968F94C7AFB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48982C0C-1EB4-9AA4-3A98-412C65A97FE6}"/>
              </a:ext>
            </a:extLst>
          </p:cNvPr>
          <p:cNvSpPr txBox="1"/>
          <p:nvPr/>
        </p:nvSpPr>
        <p:spPr>
          <a:xfrm>
            <a:off x="936247" y="-17210"/>
            <a:ext cx="2163531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Outline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F7A1A1D-6F1C-06A2-38DF-7FBED7A13AFD}"/>
              </a:ext>
            </a:extLst>
          </p:cNvPr>
          <p:cNvSpPr txBox="1"/>
          <p:nvPr/>
        </p:nvSpPr>
        <p:spPr>
          <a:xfrm>
            <a:off x="1038948" y="182417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F1B1208-BAAA-6FD2-21F6-6E409BE2B203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30CCD21-D50B-D7F8-5544-31A74AF08BB4}"/>
              </a:ext>
            </a:extLst>
          </p:cNvPr>
          <p:cNvSpPr txBox="1"/>
          <p:nvPr/>
        </p:nvSpPr>
        <p:spPr>
          <a:xfrm>
            <a:off x="16715574" y="9802758"/>
            <a:ext cx="8104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2/29</a:t>
            </a: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F7EF5744-48F6-B679-37E1-0D56228EC074}"/>
              </a:ext>
            </a:extLst>
          </p:cNvPr>
          <p:cNvSpPr txBox="1"/>
          <p:nvPr/>
        </p:nvSpPr>
        <p:spPr>
          <a:xfrm>
            <a:off x="1038948" y="2701237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5862596A-5FB6-EAD3-3955-A670CDAD6BE7}"/>
              </a:ext>
            </a:extLst>
          </p:cNvPr>
          <p:cNvSpPr txBox="1"/>
          <p:nvPr/>
        </p:nvSpPr>
        <p:spPr>
          <a:xfrm>
            <a:off x="1043336" y="3633078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D4E8BD0A-39FC-E426-9066-21AEAF02753E}"/>
              </a:ext>
            </a:extLst>
          </p:cNvPr>
          <p:cNvSpPr txBox="1"/>
          <p:nvPr/>
        </p:nvSpPr>
        <p:spPr>
          <a:xfrm>
            <a:off x="1039070" y="4514202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D00D4B43-CA3A-529E-150A-90411541365F}"/>
              </a:ext>
            </a:extLst>
          </p:cNvPr>
          <p:cNvSpPr txBox="1"/>
          <p:nvPr/>
        </p:nvSpPr>
        <p:spPr>
          <a:xfrm>
            <a:off x="1038947" y="5455379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4A904101-B0DB-18FC-A110-332C2AC3D06E}"/>
              </a:ext>
            </a:extLst>
          </p:cNvPr>
          <p:cNvSpPr txBox="1"/>
          <p:nvPr/>
        </p:nvSpPr>
        <p:spPr>
          <a:xfrm>
            <a:off x="1038947" y="6360548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7" name="Freeform 14">
            <a:extLst>
              <a:ext uri="{FF2B5EF4-FFF2-40B4-BE49-F238E27FC236}">
                <a16:creationId xmlns:a16="http://schemas.microsoft.com/office/drawing/2014/main" id="{562DE2AE-4DAF-87CB-C3A9-ECEDAF16B1AD}"/>
              </a:ext>
            </a:extLst>
          </p:cNvPr>
          <p:cNvSpPr/>
          <p:nvPr/>
        </p:nvSpPr>
        <p:spPr>
          <a:xfrm>
            <a:off x="848967" y="8123551"/>
            <a:ext cx="16475509" cy="718847"/>
          </a:xfrm>
          <a:custGeom>
            <a:avLst/>
            <a:gdLst/>
            <a:ahLst/>
            <a:cxnLst/>
            <a:rect l="l" t="t" r="r" b="b"/>
            <a:pathLst>
              <a:path w="2326259" h="927354">
                <a:moveTo>
                  <a:pt x="0" y="927354"/>
                </a:moveTo>
                <a:lnTo>
                  <a:pt x="2326259" y="927354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>
              <a:latin typeface="Computer modern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2544FFA5-6BD3-B082-846B-07063F9A0B83}"/>
              </a:ext>
            </a:extLst>
          </p:cNvPr>
          <p:cNvSpPr txBox="1"/>
          <p:nvPr/>
        </p:nvSpPr>
        <p:spPr>
          <a:xfrm>
            <a:off x="1038947" y="7229709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6C767EAA-0FC2-8D21-83CA-6B05BDD7E2D5}"/>
              </a:ext>
            </a:extLst>
          </p:cNvPr>
          <p:cNvSpPr txBox="1"/>
          <p:nvPr/>
        </p:nvSpPr>
        <p:spPr>
          <a:xfrm>
            <a:off x="1038947" y="8098870"/>
            <a:ext cx="587763" cy="553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200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  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1CB2D719-A033-D05C-3EBA-10BBFCF697A0}"/>
              </a:ext>
            </a:extLst>
          </p:cNvPr>
          <p:cNvSpPr txBox="1"/>
          <p:nvPr/>
        </p:nvSpPr>
        <p:spPr>
          <a:xfrm>
            <a:off x="1487294" y="192259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Introduction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C7C51322-6412-8A08-B571-CC0FA2FE13BC}"/>
              </a:ext>
            </a:extLst>
          </p:cNvPr>
          <p:cNvSpPr txBox="1"/>
          <p:nvPr/>
        </p:nvSpPr>
        <p:spPr>
          <a:xfrm>
            <a:off x="1487293" y="283007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 Setting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701BBBD1-E5DB-41D7-59C7-8611F8C8C442}"/>
              </a:ext>
            </a:extLst>
          </p:cNvPr>
          <p:cNvSpPr txBox="1"/>
          <p:nvPr/>
        </p:nvSpPr>
        <p:spPr>
          <a:xfrm>
            <a:off x="1487287" y="3735456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Objective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9E1B94AD-5ED2-A87B-666C-82F414A5D7CA}"/>
              </a:ext>
            </a:extLst>
          </p:cNvPr>
          <p:cNvSpPr txBox="1"/>
          <p:nvPr/>
        </p:nvSpPr>
        <p:spPr>
          <a:xfrm>
            <a:off x="1487286" y="4625259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Literature Review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1EBC3B14-7BA0-25ED-C340-83AB53EA8CE8}"/>
              </a:ext>
            </a:extLst>
          </p:cNvPr>
          <p:cNvSpPr txBox="1"/>
          <p:nvPr/>
        </p:nvSpPr>
        <p:spPr>
          <a:xfrm>
            <a:off x="1487286" y="560239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F723BC72-367B-A807-BB39-43E25481ECFA}"/>
              </a:ext>
            </a:extLst>
          </p:cNvPr>
          <p:cNvSpPr txBox="1"/>
          <p:nvPr/>
        </p:nvSpPr>
        <p:spPr>
          <a:xfrm>
            <a:off x="1487286" y="6492924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B2876D4F-D9A7-E429-F1CB-8B3496EF79D0}"/>
              </a:ext>
            </a:extLst>
          </p:cNvPr>
          <p:cNvSpPr txBox="1"/>
          <p:nvPr/>
        </p:nvSpPr>
        <p:spPr>
          <a:xfrm>
            <a:off x="1487286" y="7346109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D3BA75DA-DCC9-43E7-62DE-7E462FAC210A}"/>
              </a:ext>
            </a:extLst>
          </p:cNvPr>
          <p:cNvSpPr txBox="1"/>
          <p:nvPr/>
        </p:nvSpPr>
        <p:spPr>
          <a:xfrm>
            <a:off x="1487286" y="8219729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 &amp; Conclusion</a:t>
            </a:r>
            <a:endParaRPr lang="en-US" sz="2843" spc="28" dirty="0">
              <a:solidFill>
                <a:srgbClr val="1E1F21"/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90977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0"/>
                  </a:moveTo>
                  <a:lnTo>
                    <a:pt x="0" y="151508"/>
                  </a:lnTo>
                  <a:lnTo>
                    <a:pt x="5759958" y="151508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953992" y="3154086"/>
            <a:ext cx="7953008" cy="555851"/>
          </a:xfrm>
          <a:custGeom>
            <a:avLst/>
            <a:gdLst/>
            <a:ahLst/>
            <a:cxnLst/>
            <a:rect l="l" t="t" r="r" b="b"/>
            <a:pathLst>
              <a:path w="2326259" h="175260">
                <a:moveTo>
                  <a:pt x="0" y="175260"/>
                </a:moveTo>
                <a:lnTo>
                  <a:pt x="2326259" y="175260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3" name="Freeform 13"/>
          <p:cNvSpPr/>
          <p:nvPr/>
        </p:nvSpPr>
        <p:spPr>
          <a:xfrm>
            <a:off x="10206945" y="3529084"/>
            <a:ext cx="220729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14" name="Freeform 14"/>
          <p:cNvSpPr/>
          <p:nvPr/>
        </p:nvSpPr>
        <p:spPr>
          <a:xfrm>
            <a:off x="9953992" y="3701882"/>
            <a:ext cx="7953008" cy="3017306"/>
          </a:xfrm>
          <a:custGeom>
            <a:avLst/>
            <a:gdLst/>
            <a:ahLst/>
            <a:cxnLst/>
            <a:rect l="l" t="t" r="r" b="b"/>
            <a:pathLst>
              <a:path w="2326259" h="951357">
                <a:moveTo>
                  <a:pt x="0" y="951357"/>
                </a:moveTo>
                <a:lnTo>
                  <a:pt x="2326259" y="951357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5" name="TextBox 15"/>
          <p:cNvSpPr txBox="1"/>
          <p:nvPr/>
        </p:nvSpPr>
        <p:spPr>
          <a:xfrm>
            <a:off x="902443" y="-17210"/>
            <a:ext cx="960517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Geological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Domains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Matter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15574" y="9816856"/>
            <a:ext cx="8866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3/29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401" y="408900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7401" y="513234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401" y="617565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7401" y="3045668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8849" y="2983896"/>
            <a:ext cx="7599427" cy="371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Resource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models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first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split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deposit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into categorical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geo-domains.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Grades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then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estimated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inside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separately.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Domains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should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group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samples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similar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statistical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behavior.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Poor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domains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affect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estimation.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06946" y="3716759"/>
            <a:ext cx="7700054" cy="480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Orebody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evaluation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commonly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separated into: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37499" y="4219519"/>
            <a:ext cx="7064701" cy="1195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09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1.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Modelling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categorical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variables.</a:t>
            </a:r>
          </a:p>
          <a:p>
            <a:pPr algn="l">
              <a:lnSpc>
                <a:spcPts val="3571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2.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Estimating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continuous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variables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88036" y="3131453"/>
            <a:ext cx="4880564" cy="477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From the course knowledge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A8661429-1B49-5369-8290-12AFBB4FEEBB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Introduction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113F401C-5564-DBDD-5933-906602A2A9C2}"/>
              </a:ext>
            </a:extLst>
          </p:cNvPr>
          <p:cNvSpPr/>
          <p:nvPr/>
        </p:nvSpPr>
        <p:spPr>
          <a:xfrm>
            <a:off x="11975527" y="-5692718"/>
            <a:ext cx="3921156" cy="838209"/>
          </a:xfrm>
          <a:custGeom>
            <a:avLst/>
            <a:gdLst/>
            <a:ahLst/>
            <a:cxnLst/>
            <a:rect l="l" t="t" r="r" b="b"/>
            <a:pathLst>
              <a:path w="1236349" h="264287">
                <a:moveTo>
                  <a:pt x="0" y="264286"/>
                </a:moveTo>
                <a:lnTo>
                  <a:pt x="1236350" y="264286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DAB4761A-0465-4F89-FC66-FCBE8861DA3E}"/>
              </a:ext>
            </a:extLst>
          </p:cNvPr>
          <p:cNvSpPr/>
          <p:nvPr/>
        </p:nvSpPr>
        <p:spPr>
          <a:xfrm>
            <a:off x="11963443" y="-5692718"/>
            <a:ext cx="3945324" cy="862377"/>
          </a:xfrm>
          <a:custGeom>
            <a:avLst/>
            <a:gdLst/>
            <a:ahLst/>
            <a:cxnLst/>
            <a:rect l="l" t="t" r="r" b="b"/>
            <a:pathLst>
              <a:path w="1243969" h="271907">
                <a:moveTo>
                  <a:pt x="3810" y="264286"/>
                </a:moveTo>
                <a:lnTo>
                  <a:pt x="1240160" y="264286"/>
                </a:lnTo>
                <a:lnTo>
                  <a:pt x="1240160" y="268096"/>
                </a:lnTo>
                <a:lnTo>
                  <a:pt x="1236350" y="268096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6"/>
                </a:lnTo>
                <a:lnTo>
                  <a:pt x="3810" y="268096"/>
                </a:lnTo>
                <a:lnTo>
                  <a:pt x="3810" y="264286"/>
                </a:lnTo>
                <a:moveTo>
                  <a:pt x="3810" y="271906"/>
                </a:moveTo>
                <a:lnTo>
                  <a:pt x="0" y="271906"/>
                </a:lnTo>
                <a:lnTo>
                  <a:pt x="0" y="268096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6"/>
                </a:lnTo>
                <a:lnTo>
                  <a:pt x="1243970" y="271906"/>
                </a:lnTo>
                <a:lnTo>
                  <a:pt x="1240160" y="271906"/>
                </a:lnTo>
                <a:lnTo>
                  <a:pt x="3810" y="271906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B43A6CCA-FCD6-D9E1-D809-F20B8EFEB4C1}"/>
              </a:ext>
            </a:extLst>
          </p:cNvPr>
          <p:cNvSpPr/>
          <p:nvPr/>
        </p:nvSpPr>
        <p:spPr>
          <a:xfrm>
            <a:off x="11975527" y="-5692718"/>
            <a:ext cx="3921156" cy="822098"/>
          </a:xfrm>
          <a:custGeom>
            <a:avLst/>
            <a:gdLst/>
            <a:ahLst/>
            <a:cxnLst/>
            <a:rect l="l" t="t" r="r" b="b"/>
            <a:pathLst>
              <a:path w="1236349" h="259207">
                <a:moveTo>
                  <a:pt x="0" y="259207"/>
                </a:moveTo>
                <a:lnTo>
                  <a:pt x="1236350" y="25920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32" name="Freeform 15">
            <a:extLst>
              <a:ext uri="{FF2B5EF4-FFF2-40B4-BE49-F238E27FC236}">
                <a16:creationId xmlns:a16="http://schemas.microsoft.com/office/drawing/2014/main" id="{CF07FC79-DE7A-DDC0-7C7E-9D7442030895}"/>
              </a:ext>
            </a:extLst>
          </p:cNvPr>
          <p:cNvSpPr/>
          <p:nvPr/>
        </p:nvSpPr>
        <p:spPr>
          <a:xfrm>
            <a:off x="11963443" y="-5692718"/>
            <a:ext cx="3945324" cy="846262"/>
          </a:xfrm>
          <a:custGeom>
            <a:avLst/>
            <a:gdLst/>
            <a:ahLst/>
            <a:cxnLst/>
            <a:rect l="l" t="t" r="r" b="b"/>
            <a:pathLst>
              <a:path w="1243969" h="266826">
                <a:moveTo>
                  <a:pt x="3810" y="259207"/>
                </a:moveTo>
                <a:lnTo>
                  <a:pt x="1240160" y="259207"/>
                </a:lnTo>
                <a:lnTo>
                  <a:pt x="1240160" y="263017"/>
                </a:lnTo>
                <a:lnTo>
                  <a:pt x="1236350" y="26301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3017"/>
                </a:lnTo>
                <a:lnTo>
                  <a:pt x="3810" y="263017"/>
                </a:lnTo>
                <a:lnTo>
                  <a:pt x="3810" y="259207"/>
                </a:lnTo>
                <a:moveTo>
                  <a:pt x="3810" y="266827"/>
                </a:moveTo>
                <a:lnTo>
                  <a:pt x="0" y="266827"/>
                </a:lnTo>
                <a:lnTo>
                  <a:pt x="0" y="26301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3017"/>
                </a:lnTo>
                <a:lnTo>
                  <a:pt x="1243970" y="266827"/>
                </a:lnTo>
                <a:lnTo>
                  <a:pt x="1240160" y="266827"/>
                </a:lnTo>
                <a:lnTo>
                  <a:pt x="3810" y="26682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B4A69CF4-C430-57D0-641B-C073026EA65E}"/>
              </a:ext>
            </a:extLst>
          </p:cNvPr>
          <p:cNvSpPr/>
          <p:nvPr/>
        </p:nvSpPr>
        <p:spPr>
          <a:xfrm>
            <a:off x="11975527" y="-5692718"/>
            <a:ext cx="3921156" cy="838206"/>
          </a:xfrm>
          <a:custGeom>
            <a:avLst/>
            <a:gdLst/>
            <a:ahLst/>
            <a:cxnLst/>
            <a:rect l="l" t="t" r="r" b="b"/>
            <a:pathLst>
              <a:path w="1236349" h="264286">
                <a:moveTo>
                  <a:pt x="0" y="264287"/>
                </a:moveTo>
                <a:lnTo>
                  <a:pt x="1236350" y="26428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34" name="Freeform 17">
            <a:extLst>
              <a:ext uri="{FF2B5EF4-FFF2-40B4-BE49-F238E27FC236}">
                <a16:creationId xmlns:a16="http://schemas.microsoft.com/office/drawing/2014/main" id="{A85C7D6F-BC12-7642-163C-EF264C7B9EEF}"/>
              </a:ext>
            </a:extLst>
          </p:cNvPr>
          <p:cNvSpPr/>
          <p:nvPr/>
        </p:nvSpPr>
        <p:spPr>
          <a:xfrm>
            <a:off x="11963443" y="-5692718"/>
            <a:ext cx="3945324" cy="862377"/>
          </a:xfrm>
          <a:custGeom>
            <a:avLst/>
            <a:gdLst/>
            <a:ahLst/>
            <a:cxnLst/>
            <a:rect l="l" t="t" r="r" b="b"/>
            <a:pathLst>
              <a:path w="1243969" h="271907">
                <a:moveTo>
                  <a:pt x="3810" y="264287"/>
                </a:moveTo>
                <a:lnTo>
                  <a:pt x="1240160" y="264287"/>
                </a:lnTo>
                <a:lnTo>
                  <a:pt x="1240160" y="268097"/>
                </a:lnTo>
                <a:lnTo>
                  <a:pt x="1236350" y="26809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7"/>
                </a:lnTo>
                <a:lnTo>
                  <a:pt x="3810" y="268097"/>
                </a:lnTo>
                <a:lnTo>
                  <a:pt x="3810" y="264287"/>
                </a:lnTo>
                <a:moveTo>
                  <a:pt x="3810" y="271907"/>
                </a:moveTo>
                <a:lnTo>
                  <a:pt x="0" y="271907"/>
                </a:lnTo>
                <a:lnTo>
                  <a:pt x="0" y="26809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7"/>
                </a:lnTo>
                <a:lnTo>
                  <a:pt x="1243970" y="271907"/>
                </a:lnTo>
                <a:lnTo>
                  <a:pt x="1240160" y="271907"/>
                </a:lnTo>
                <a:lnTo>
                  <a:pt x="3810" y="27190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1669ABD9-170E-6F94-FD08-930BA3517DA3}"/>
              </a:ext>
            </a:extLst>
          </p:cNvPr>
          <p:cNvSpPr/>
          <p:nvPr/>
        </p:nvSpPr>
        <p:spPr>
          <a:xfrm>
            <a:off x="11975527" y="-5692718"/>
            <a:ext cx="3921156" cy="838209"/>
          </a:xfrm>
          <a:custGeom>
            <a:avLst/>
            <a:gdLst/>
            <a:ahLst/>
            <a:cxnLst/>
            <a:rect l="l" t="t" r="r" b="b"/>
            <a:pathLst>
              <a:path w="1236349" h="264287">
                <a:moveTo>
                  <a:pt x="0" y="264287"/>
                </a:moveTo>
                <a:lnTo>
                  <a:pt x="1236350" y="26428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36" name="Freeform 19">
            <a:extLst>
              <a:ext uri="{FF2B5EF4-FFF2-40B4-BE49-F238E27FC236}">
                <a16:creationId xmlns:a16="http://schemas.microsoft.com/office/drawing/2014/main" id="{7A354005-27DF-7C63-F200-A58EFA4F4051}"/>
              </a:ext>
            </a:extLst>
          </p:cNvPr>
          <p:cNvSpPr/>
          <p:nvPr/>
        </p:nvSpPr>
        <p:spPr>
          <a:xfrm>
            <a:off x="11963443" y="-5692718"/>
            <a:ext cx="3945324" cy="862374"/>
          </a:xfrm>
          <a:custGeom>
            <a:avLst/>
            <a:gdLst/>
            <a:ahLst/>
            <a:cxnLst/>
            <a:rect l="l" t="t" r="r" b="b"/>
            <a:pathLst>
              <a:path w="1243969" h="271906">
                <a:moveTo>
                  <a:pt x="3810" y="264287"/>
                </a:moveTo>
                <a:lnTo>
                  <a:pt x="1240160" y="264287"/>
                </a:lnTo>
                <a:lnTo>
                  <a:pt x="1240160" y="268097"/>
                </a:lnTo>
                <a:lnTo>
                  <a:pt x="1236350" y="26809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7"/>
                </a:lnTo>
                <a:lnTo>
                  <a:pt x="3810" y="268097"/>
                </a:lnTo>
                <a:lnTo>
                  <a:pt x="3810" y="264287"/>
                </a:lnTo>
                <a:moveTo>
                  <a:pt x="3810" y="271907"/>
                </a:moveTo>
                <a:lnTo>
                  <a:pt x="0" y="271907"/>
                </a:lnTo>
                <a:lnTo>
                  <a:pt x="0" y="26809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7"/>
                </a:lnTo>
                <a:lnTo>
                  <a:pt x="1243970" y="271907"/>
                </a:lnTo>
                <a:lnTo>
                  <a:pt x="1240160" y="271907"/>
                </a:lnTo>
                <a:lnTo>
                  <a:pt x="3810" y="27190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/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0A0A5D44-A91D-D3F2-929A-F36AE3197E4C}"/>
              </a:ext>
            </a:extLst>
          </p:cNvPr>
          <p:cNvSpPr txBox="1"/>
          <p:nvPr/>
        </p:nvSpPr>
        <p:spPr>
          <a:xfrm>
            <a:off x="12901212" y="-5692718"/>
            <a:ext cx="2111269" cy="66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Drillhole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logging and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assays</a:t>
            </a:r>
          </a:p>
        </p:txBody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98DF8413-6853-084A-4412-BE97F154D6EE}"/>
              </a:ext>
            </a:extLst>
          </p:cNvPr>
          <p:cNvSpPr txBox="1"/>
          <p:nvPr/>
        </p:nvSpPr>
        <p:spPr>
          <a:xfrm>
            <a:off x="12881637" y="-5692718"/>
            <a:ext cx="2151115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Domain-based grade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estimation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D686BD72-753C-C6CA-4EF3-9D8685D0199A}"/>
              </a:ext>
            </a:extLst>
          </p:cNvPr>
          <p:cNvSpPr txBox="1"/>
          <p:nvPr/>
        </p:nvSpPr>
        <p:spPr>
          <a:xfrm>
            <a:off x="12707148" y="-5692718"/>
            <a:ext cx="2507072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 estimation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domains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4A04CE47-B577-5031-3A29-9C6ADDF00754}"/>
              </a:ext>
            </a:extLst>
          </p:cNvPr>
          <p:cNvSpPr txBox="1"/>
          <p:nvPr/>
        </p:nvSpPr>
        <p:spPr>
          <a:xfrm>
            <a:off x="12521451" y="-5692718"/>
            <a:ext cx="2885957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Resource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 and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reporting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7435955-ECFE-D474-E802-EA5E5F317420}"/>
              </a:ext>
            </a:extLst>
          </p:cNvPr>
          <p:cNvCxnSpPr>
            <a:cxnSpLocks/>
          </p:cNvCxnSpPr>
          <p:nvPr/>
        </p:nvCxnSpPr>
        <p:spPr>
          <a:xfrm>
            <a:off x="13944455" y="-5692718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0789B4-4D05-CEEE-8554-EC244A95883C}"/>
              </a:ext>
            </a:extLst>
          </p:cNvPr>
          <p:cNvCxnSpPr>
            <a:cxnSpLocks/>
          </p:cNvCxnSpPr>
          <p:nvPr/>
        </p:nvCxnSpPr>
        <p:spPr>
          <a:xfrm>
            <a:off x="13944455" y="-5692718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BDE3419-7BE2-A94A-6598-80A7FFC45104}"/>
              </a:ext>
            </a:extLst>
          </p:cNvPr>
          <p:cNvCxnSpPr>
            <a:cxnSpLocks/>
          </p:cNvCxnSpPr>
          <p:nvPr/>
        </p:nvCxnSpPr>
        <p:spPr>
          <a:xfrm>
            <a:off x="13944455" y="-5692718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C592-9603-E057-084F-1F9392C4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AE57BB-4CCC-EEEA-56E4-53E904E87468}"/>
              </a:ext>
            </a:extLst>
          </p:cNvPr>
          <p:cNvGrpSpPr/>
          <p:nvPr/>
        </p:nvGrpSpPr>
        <p:grpSpPr>
          <a:xfrm>
            <a:off x="-201375" y="9587261"/>
            <a:ext cx="18671084" cy="897489"/>
            <a:chOff x="0" y="0"/>
            <a:chExt cx="5886996" cy="2829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8813D8-EBD1-79D3-11F6-7FFFD1D5EE92}"/>
                </a:ext>
              </a:extLst>
            </p:cNvPr>
            <p:cNvSpPr/>
            <p:nvPr/>
          </p:nvSpPr>
          <p:spPr>
            <a:xfrm>
              <a:off x="63500" y="63499"/>
              <a:ext cx="5759962" cy="4445"/>
            </a:xfrm>
            <a:custGeom>
              <a:avLst/>
              <a:gdLst/>
              <a:ahLst/>
              <a:cxnLst/>
              <a:rect l="l" t="t" r="r" b="b"/>
              <a:pathLst>
                <a:path w="5759962" h="4445">
                  <a:moveTo>
                    <a:pt x="0" y="0"/>
                  </a:moveTo>
                  <a:lnTo>
                    <a:pt x="0" y="4445"/>
                  </a:lnTo>
                  <a:lnTo>
                    <a:pt x="5759962" y="4445"/>
                  </a:lnTo>
                  <a:lnTo>
                    <a:pt x="5759962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35DBAB-2A53-2787-E766-CB4AD7244125}"/>
                </a:ext>
              </a:extLst>
            </p:cNvPr>
            <p:cNvSpPr/>
            <p:nvPr/>
          </p:nvSpPr>
          <p:spPr>
            <a:xfrm>
              <a:off x="63500" y="67944"/>
              <a:ext cx="5759962" cy="151508"/>
            </a:xfrm>
            <a:custGeom>
              <a:avLst/>
              <a:gdLst/>
              <a:ahLst/>
              <a:cxnLst/>
              <a:rect l="l" t="t" r="r" b="b"/>
              <a:pathLst>
                <a:path w="5759962" h="151508">
                  <a:moveTo>
                    <a:pt x="0" y="0"/>
                  </a:moveTo>
                  <a:lnTo>
                    <a:pt x="0" y="151508"/>
                  </a:lnTo>
                  <a:lnTo>
                    <a:pt x="5759962" y="151508"/>
                  </a:lnTo>
                  <a:lnTo>
                    <a:pt x="575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20F3EF-D185-C90B-8AAD-F374BAE165E6}"/>
              </a:ext>
            </a:extLst>
          </p:cNvPr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943A88-2429-8EF1-FF12-2C33C0BB3377}"/>
                </a:ext>
              </a:extLst>
            </p:cNvPr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5BA7CD8-8298-5B0C-2C05-A0CFFD274074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0DE4535-CE6F-9CCC-FB54-BD9E05FEAC93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DAEC08B-F736-E301-3197-2131F8929526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9E4161C-E9BD-6C4B-AA2D-7FE47DF6CDAA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9DB7B798-3A00-75D6-9FE8-D94FEFD346BB}"/>
              </a:ext>
            </a:extLst>
          </p:cNvPr>
          <p:cNvSpPr/>
          <p:nvPr/>
        </p:nvSpPr>
        <p:spPr>
          <a:xfrm>
            <a:off x="11518472" y="2728316"/>
            <a:ext cx="3921156" cy="838209"/>
          </a:xfrm>
          <a:custGeom>
            <a:avLst/>
            <a:gdLst/>
            <a:ahLst/>
            <a:cxnLst/>
            <a:rect l="l" t="t" r="r" b="b"/>
            <a:pathLst>
              <a:path w="1236349" h="264287">
                <a:moveTo>
                  <a:pt x="0" y="264286"/>
                </a:moveTo>
                <a:lnTo>
                  <a:pt x="1236350" y="264286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021B47E-BC04-CB11-FBD0-702223FE9FE8}"/>
              </a:ext>
            </a:extLst>
          </p:cNvPr>
          <p:cNvSpPr/>
          <p:nvPr/>
        </p:nvSpPr>
        <p:spPr>
          <a:xfrm>
            <a:off x="11506388" y="2716232"/>
            <a:ext cx="3945324" cy="862377"/>
          </a:xfrm>
          <a:custGeom>
            <a:avLst/>
            <a:gdLst/>
            <a:ahLst/>
            <a:cxnLst/>
            <a:rect l="l" t="t" r="r" b="b"/>
            <a:pathLst>
              <a:path w="1243969" h="271907">
                <a:moveTo>
                  <a:pt x="3810" y="264286"/>
                </a:moveTo>
                <a:lnTo>
                  <a:pt x="1240160" y="264286"/>
                </a:lnTo>
                <a:lnTo>
                  <a:pt x="1240160" y="268096"/>
                </a:lnTo>
                <a:lnTo>
                  <a:pt x="1236350" y="268096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6"/>
                </a:lnTo>
                <a:lnTo>
                  <a:pt x="3810" y="268096"/>
                </a:lnTo>
                <a:lnTo>
                  <a:pt x="3810" y="264286"/>
                </a:lnTo>
                <a:moveTo>
                  <a:pt x="3810" y="271906"/>
                </a:moveTo>
                <a:lnTo>
                  <a:pt x="0" y="271906"/>
                </a:lnTo>
                <a:lnTo>
                  <a:pt x="0" y="268096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6"/>
                </a:lnTo>
                <a:lnTo>
                  <a:pt x="1243970" y="271906"/>
                </a:lnTo>
                <a:lnTo>
                  <a:pt x="1240160" y="271906"/>
                </a:lnTo>
                <a:lnTo>
                  <a:pt x="3810" y="271906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B89E409-5699-77CE-8F32-3C189AC8F14E}"/>
              </a:ext>
            </a:extLst>
          </p:cNvPr>
          <p:cNvSpPr/>
          <p:nvPr/>
        </p:nvSpPr>
        <p:spPr>
          <a:xfrm>
            <a:off x="11518472" y="4218641"/>
            <a:ext cx="3921156" cy="822098"/>
          </a:xfrm>
          <a:custGeom>
            <a:avLst/>
            <a:gdLst/>
            <a:ahLst/>
            <a:cxnLst/>
            <a:rect l="l" t="t" r="r" b="b"/>
            <a:pathLst>
              <a:path w="1236349" h="259207">
                <a:moveTo>
                  <a:pt x="0" y="259207"/>
                </a:moveTo>
                <a:lnTo>
                  <a:pt x="1236350" y="25920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CAACB89-B794-0B5C-B579-F67BAD060357}"/>
              </a:ext>
            </a:extLst>
          </p:cNvPr>
          <p:cNvSpPr/>
          <p:nvPr/>
        </p:nvSpPr>
        <p:spPr>
          <a:xfrm>
            <a:off x="11506388" y="4206558"/>
            <a:ext cx="3945324" cy="846262"/>
          </a:xfrm>
          <a:custGeom>
            <a:avLst/>
            <a:gdLst/>
            <a:ahLst/>
            <a:cxnLst/>
            <a:rect l="l" t="t" r="r" b="b"/>
            <a:pathLst>
              <a:path w="1243969" h="266826">
                <a:moveTo>
                  <a:pt x="3810" y="259207"/>
                </a:moveTo>
                <a:lnTo>
                  <a:pt x="1240160" y="259207"/>
                </a:lnTo>
                <a:lnTo>
                  <a:pt x="1240160" y="263017"/>
                </a:lnTo>
                <a:lnTo>
                  <a:pt x="1236350" y="26301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3017"/>
                </a:lnTo>
                <a:lnTo>
                  <a:pt x="3810" y="263017"/>
                </a:lnTo>
                <a:lnTo>
                  <a:pt x="3810" y="259207"/>
                </a:lnTo>
                <a:moveTo>
                  <a:pt x="3810" y="266827"/>
                </a:moveTo>
                <a:lnTo>
                  <a:pt x="0" y="266827"/>
                </a:lnTo>
                <a:lnTo>
                  <a:pt x="0" y="26301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3017"/>
                </a:lnTo>
                <a:lnTo>
                  <a:pt x="1243970" y="266827"/>
                </a:lnTo>
                <a:lnTo>
                  <a:pt x="1240160" y="266827"/>
                </a:lnTo>
                <a:lnTo>
                  <a:pt x="3810" y="26682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D15AB34-8D1A-77AF-7AE4-25D9CB65743D}"/>
              </a:ext>
            </a:extLst>
          </p:cNvPr>
          <p:cNvSpPr/>
          <p:nvPr/>
        </p:nvSpPr>
        <p:spPr>
          <a:xfrm>
            <a:off x="11518472" y="5692856"/>
            <a:ext cx="3921156" cy="838206"/>
          </a:xfrm>
          <a:custGeom>
            <a:avLst/>
            <a:gdLst/>
            <a:ahLst/>
            <a:cxnLst/>
            <a:rect l="l" t="t" r="r" b="b"/>
            <a:pathLst>
              <a:path w="1236349" h="264286">
                <a:moveTo>
                  <a:pt x="0" y="264287"/>
                </a:moveTo>
                <a:lnTo>
                  <a:pt x="1236350" y="26428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5C05A45-2818-8D4C-E2D4-266EB641E586}"/>
              </a:ext>
            </a:extLst>
          </p:cNvPr>
          <p:cNvSpPr/>
          <p:nvPr/>
        </p:nvSpPr>
        <p:spPr>
          <a:xfrm>
            <a:off x="11506388" y="5680772"/>
            <a:ext cx="3945324" cy="862377"/>
          </a:xfrm>
          <a:custGeom>
            <a:avLst/>
            <a:gdLst/>
            <a:ahLst/>
            <a:cxnLst/>
            <a:rect l="l" t="t" r="r" b="b"/>
            <a:pathLst>
              <a:path w="1243969" h="271907">
                <a:moveTo>
                  <a:pt x="3810" y="264287"/>
                </a:moveTo>
                <a:lnTo>
                  <a:pt x="1240160" y="264287"/>
                </a:lnTo>
                <a:lnTo>
                  <a:pt x="1240160" y="268097"/>
                </a:lnTo>
                <a:lnTo>
                  <a:pt x="1236350" y="26809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7"/>
                </a:lnTo>
                <a:lnTo>
                  <a:pt x="3810" y="268097"/>
                </a:lnTo>
                <a:lnTo>
                  <a:pt x="3810" y="264287"/>
                </a:lnTo>
                <a:moveTo>
                  <a:pt x="3810" y="271907"/>
                </a:moveTo>
                <a:lnTo>
                  <a:pt x="0" y="271907"/>
                </a:lnTo>
                <a:lnTo>
                  <a:pt x="0" y="26809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7"/>
                </a:lnTo>
                <a:lnTo>
                  <a:pt x="1243970" y="271907"/>
                </a:lnTo>
                <a:lnTo>
                  <a:pt x="1240160" y="271907"/>
                </a:lnTo>
                <a:lnTo>
                  <a:pt x="3810" y="27190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3AE9927-114D-2358-1C69-0DC72C084012}"/>
              </a:ext>
            </a:extLst>
          </p:cNvPr>
          <p:cNvSpPr/>
          <p:nvPr/>
        </p:nvSpPr>
        <p:spPr>
          <a:xfrm>
            <a:off x="11518472" y="7183182"/>
            <a:ext cx="3921156" cy="838209"/>
          </a:xfrm>
          <a:custGeom>
            <a:avLst/>
            <a:gdLst/>
            <a:ahLst/>
            <a:cxnLst/>
            <a:rect l="l" t="t" r="r" b="b"/>
            <a:pathLst>
              <a:path w="1236349" h="264287">
                <a:moveTo>
                  <a:pt x="0" y="264287"/>
                </a:moveTo>
                <a:lnTo>
                  <a:pt x="1236350" y="264287"/>
                </a:lnTo>
                <a:lnTo>
                  <a:pt x="1236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E043DDF6-0C0F-F8E8-F580-B21D947E218E}"/>
              </a:ext>
            </a:extLst>
          </p:cNvPr>
          <p:cNvSpPr/>
          <p:nvPr/>
        </p:nvSpPr>
        <p:spPr>
          <a:xfrm>
            <a:off x="11506388" y="7171098"/>
            <a:ext cx="3945324" cy="862374"/>
          </a:xfrm>
          <a:custGeom>
            <a:avLst/>
            <a:gdLst/>
            <a:ahLst/>
            <a:cxnLst/>
            <a:rect l="l" t="t" r="r" b="b"/>
            <a:pathLst>
              <a:path w="1243969" h="271906">
                <a:moveTo>
                  <a:pt x="3810" y="264287"/>
                </a:moveTo>
                <a:lnTo>
                  <a:pt x="1240160" y="264287"/>
                </a:lnTo>
                <a:lnTo>
                  <a:pt x="1240160" y="268097"/>
                </a:lnTo>
                <a:lnTo>
                  <a:pt x="1236350" y="268097"/>
                </a:lnTo>
                <a:lnTo>
                  <a:pt x="1236350" y="3810"/>
                </a:lnTo>
                <a:lnTo>
                  <a:pt x="1240160" y="3810"/>
                </a:lnTo>
                <a:lnTo>
                  <a:pt x="1240160" y="7620"/>
                </a:lnTo>
                <a:lnTo>
                  <a:pt x="3810" y="7620"/>
                </a:lnTo>
                <a:lnTo>
                  <a:pt x="3810" y="3810"/>
                </a:lnTo>
                <a:lnTo>
                  <a:pt x="7620" y="3810"/>
                </a:lnTo>
                <a:lnTo>
                  <a:pt x="7620" y="268097"/>
                </a:lnTo>
                <a:lnTo>
                  <a:pt x="3810" y="268097"/>
                </a:lnTo>
                <a:lnTo>
                  <a:pt x="3810" y="264287"/>
                </a:lnTo>
                <a:moveTo>
                  <a:pt x="3810" y="271907"/>
                </a:moveTo>
                <a:lnTo>
                  <a:pt x="0" y="271907"/>
                </a:lnTo>
                <a:lnTo>
                  <a:pt x="0" y="268097"/>
                </a:lnTo>
                <a:lnTo>
                  <a:pt x="0" y="3810"/>
                </a:lnTo>
                <a:lnTo>
                  <a:pt x="0" y="0"/>
                </a:lnTo>
                <a:lnTo>
                  <a:pt x="3810" y="0"/>
                </a:lnTo>
                <a:lnTo>
                  <a:pt x="1240160" y="0"/>
                </a:lnTo>
                <a:lnTo>
                  <a:pt x="1243970" y="0"/>
                </a:lnTo>
                <a:lnTo>
                  <a:pt x="1243970" y="3810"/>
                </a:lnTo>
                <a:lnTo>
                  <a:pt x="1243970" y="268097"/>
                </a:lnTo>
                <a:lnTo>
                  <a:pt x="1243970" y="271907"/>
                </a:lnTo>
                <a:lnTo>
                  <a:pt x="1240160" y="271907"/>
                </a:lnTo>
                <a:lnTo>
                  <a:pt x="3810" y="271907"/>
                </a:lnTo>
                <a:close/>
              </a:path>
            </a:pathLst>
          </a:custGeom>
          <a:solidFill>
            <a:srgbClr val="1E1F21"/>
          </a:solidFill>
        </p:spPr>
        <p:txBody>
          <a:bodyPr/>
          <a:lstStyle/>
          <a:p>
            <a:endParaRPr lang="ru-KZ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019ED26-47A0-6CA2-28A8-7E5DF9AE6E41}"/>
              </a:ext>
            </a:extLst>
          </p:cNvPr>
          <p:cNvSpPr txBox="1"/>
          <p:nvPr/>
        </p:nvSpPr>
        <p:spPr>
          <a:xfrm>
            <a:off x="936247" y="-17210"/>
            <a:ext cx="10951454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From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Logging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Estimation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2459562-30AF-657D-79A5-CEECAB735A36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F7F4B85-A655-AA79-7B3A-4FB7F861F9EE}"/>
              </a:ext>
            </a:extLst>
          </p:cNvPr>
          <p:cNvSpPr txBox="1"/>
          <p:nvPr/>
        </p:nvSpPr>
        <p:spPr>
          <a:xfrm>
            <a:off x="12444157" y="2770687"/>
            <a:ext cx="2111269" cy="66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Drillhole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logging and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assays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A067111-4F23-BA3C-905C-4D204F6BDC8F}"/>
              </a:ext>
            </a:extLst>
          </p:cNvPr>
          <p:cNvSpPr txBox="1"/>
          <p:nvPr/>
        </p:nvSpPr>
        <p:spPr>
          <a:xfrm>
            <a:off x="12424582" y="5735098"/>
            <a:ext cx="2151115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Domain-based grade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estimation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0A62A85-0903-13CF-1F56-DBFFB1B50E07}"/>
              </a:ext>
            </a:extLst>
          </p:cNvPr>
          <p:cNvSpPr txBox="1"/>
          <p:nvPr/>
        </p:nvSpPr>
        <p:spPr>
          <a:xfrm>
            <a:off x="12250093" y="4280217"/>
            <a:ext cx="2507072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 estimation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domains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EF257143-2C6D-FE93-F30E-6A9072E8CA5A}"/>
              </a:ext>
            </a:extLst>
          </p:cNvPr>
          <p:cNvSpPr txBox="1"/>
          <p:nvPr/>
        </p:nvSpPr>
        <p:spPr>
          <a:xfrm>
            <a:off x="12064396" y="7225354"/>
            <a:ext cx="2885957" cy="66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Resource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 and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reporting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129C7DF-9725-540D-E79A-5372B0264A37}"/>
              </a:ext>
            </a:extLst>
          </p:cNvPr>
          <p:cNvSpPr txBox="1"/>
          <p:nvPr/>
        </p:nvSpPr>
        <p:spPr>
          <a:xfrm>
            <a:off x="15804642" y="342507"/>
            <a:ext cx="1557834" cy="37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action="ppaction://hlinksldjump"/>
              </a:rPr>
              <a:t> </a:t>
            </a:r>
            <a:endParaRPr lang="en-US" sz="2211" spc="-28" dirty="0">
              <a:solidFill>
                <a:srgbClr val="72787E"/>
              </a:solidFill>
              <a:latin typeface="IBM Plex Sans"/>
              <a:ea typeface="IBM Plex Sans"/>
              <a:cs typeface="IBM Plex Sans"/>
              <a:sym typeface="IBM Plex Sans"/>
              <a:hlinkClick r:id="rId2" action="ppaction://hlinksldjump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05E2152-46E8-B4F0-03FB-388C85F95E02}"/>
              </a:ext>
            </a:extLst>
          </p:cNvPr>
          <p:cNvSpPr txBox="1"/>
          <p:nvPr/>
        </p:nvSpPr>
        <p:spPr>
          <a:xfrm>
            <a:off x="16715574" y="9818266"/>
            <a:ext cx="8104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4/29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155E40C-746E-0F55-1468-429ABDA574F5}"/>
              </a:ext>
            </a:extLst>
          </p:cNvPr>
          <p:cNvSpPr txBox="1"/>
          <p:nvPr/>
        </p:nvSpPr>
        <p:spPr>
          <a:xfrm>
            <a:off x="1287401" y="429322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998E52E-628A-9A6F-6462-ED90A60C7F27}"/>
              </a:ext>
            </a:extLst>
          </p:cNvPr>
          <p:cNvSpPr txBox="1"/>
          <p:nvPr/>
        </p:nvSpPr>
        <p:spPr>
          <a:xfrm>
            <a:off x="1287401" y="533656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C517F56-7C05-B44D-831D-E741415265CE}"/>
              </a:ext>
            </a:extLst>
          </p:cNvPr>
          <p:cNvSpPr txBox="1"/>
          <p:nvPr/>
        </p:nvSpPr>
        <p:spPr>
          <a:xfrm>
            <a:off x="1287401" y="280849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50B3D8C7-9D5D-E167-687C-E06BA8FB74CD}"/>
              </a:ext>
            </a:extLst>
          </p:cNvPr>
          <p:cNvSpPr txBox="1"/>
          <p:nvPr/>
        </p:nvSpPr>
        <p:spPr>
          <a:xfrm>
            <a:off x="1738849" y="2746722"/>
            <a:ext cx="7377570" cy="342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domains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may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be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based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lithology, alteration,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mineralization,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structure,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grade shells.</a:t>
            </a:r>
          </a:p>
          <a:p>
            <a:pPr algn="l">
              <a:lnSpc>
                <a:spcPts val="6003"/>
              </a:lnSpc>
            </a:pP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Modern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mine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planning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also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uses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multi-element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geochemistry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geometallurgical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variables.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offers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way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combine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multiple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variables.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0DB141B-DC92-AA1B-5591-65E6D3FEB1C9}"/>
              </a:ext>
            </a:extLst>
          </p:cNvPr>
          <p:cNvCxnSpPr>
            <a:cxnSpLocks/>
          </p:cNvCxnSpPr>
          <p:nvPr/>
        </p:nvCxnSpPr>
        <p:spPr>
          <a:xfrm>
            <a:off x="13487400" y="3566525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51332F-DC18-DBF1-6BEB-3FDB5D2001BD}"/>
              </a:ext>
            </a:extLst>
          </p:cNvPr>
          <p:cNvCxnSpPr>
            <a:cxnSpLocks/>
          </p:cNvCxnSpPr>
          <p:nvPr/>
        </p:nvCxnSpPr>
        <p:spPr>
          <a:xfrm>
            <a:off x="13487400" y="5052823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C4B0D2-FA0F-FB8C-E75E-8CE35C8ACF1D}"/>
              </a:ext>
            </a:extLst>
          </p:cNvPr>
          <p:cNvCxnSpPr>
            <a:cxnSpLocks/>
          </p:cNvCxnSpPr>
          <p:nvPr/>
        </p:nvCxnSpPr>
        <p:spPr>
          <a:xfrm>
            <a:off x="13487400" y="6531062"/>
            <a:ext cx="0" cy="640033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extBox 24">
            <a:extLst>
              <a:ext uri="{FF2B5EF4-FFF2-40B4-BE49-F238E27FC236}">
                <a16:creationId xmlns:a16="http://schemas.microsoft.com/office/drawing/2014/main" id="{D8CB5E5D-1F04-73FA-9F6E-3678B9A89A5A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Introduction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0336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057606" y="1758339"/>
            <a:ext cx="7368310" cy="4069417"/>
          </a:xfrm>
          <a:custGeom>
            <a:avLst/>
            <a:gdLst/>
            <a:ahLst/>
            <a:cxnLst/>
            <a:rect l="l" t="t" r="r" b="b"/>
            <a:pathLst>
              <a:path w="2326259" h="635635">
                <a:moveTo>
                  <a:pt x="0" y="635635"/>
                </a:moveTo>
                <a:lnTo>
                  <a:pt x="2326259" y="635635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15" name="TextBox 15"/>
          <p:cNvSpPr txBox="1"/>
          <p:nvPr/>
        </p:nvSpPr>
        <p:spPr>
          <a:xfrm>
            <a:off x="936247" y="-17210"/>
            <a:ext cx="4754827" cy="811806"/>
          </a:xfrm>
          <a:prstGeom prst="rect">
            <a:avLst/>
          </a:prstGeom>
          <a:ln>
            <a:solidFill>
              <a:srgbClr val="378C94"/>
            </a:solidFill>
          </a:ln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Setting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15574" y="9802782"/>
            <a:ext cx="8866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5/29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10407" y="1810524"/>
            <a:ext cx="2188605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Consequence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680299-B4AF-50D4-F18D-D78FDF5FE240}"/>
              </a:ext>
            </a:extLst>
          </p:cNvPr>
          <p:cNvGrpSpPr/>
          <p:nvPr/>
        </p:nvGrpSpPr>
        <p:grpSpPr>
          <a:xfrm>
            <a:off x="1409291" y="2587308"/>
            <a:ext cx="8219236" cy="4042233"/>
            <a:chOff x="1409291" y="2587308"/>
            <a:chExt cx="8219236" cy="4042233"/>
          </a:xfrm>
        </p:grpSpPr>
        <p:sp>
          <p:nvSpPr>
            <p:cNvPr id="23" name="TextBox 23"/>
            <p:cNvSpPr txBox="1"/>
            <p:nvPr/>
          </p:nvSpPr>
          <p:spPr>
            <a:xfrm>
              <a:off x="1753621" y="2692116"/>
              <a:ext cx="7874906" cy="393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Geological logging is subjective</a:t>
              </a:r>
            </a:p>
            <a:p>
              <a:pPr algn="l"/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  <a:p>
              <a:pPr algn="l"/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Traditional geostatistical methods assume stationarity</a:t>
              </a:r>
            </a:p>
            <a:p>
              <a:pPr algn="l"/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  <a:p>
              <a:pPr algn="l"/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Grade-shell domaining uses only grade information and ignores multivariate geochemical signals</a:t>
              </a:r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  <a:p>
              <a:pPr algn="l"/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  <a:p>
              <a:pPr algn="l"/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Boundary uncertainty is rarely quantified</a:t>
              </a:r>
            </a:p>
          </p:txBody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5D26E09E-DB64-6E1B-C776-FEE8371FF841}"/>
                </a:ext>
              </a:extLst>
            </p:cNvPr>
            <p:cNvSpPr txBox="1"/>
            <p:nvPr/>
          </p:nvSpPr>
          <p:spPr>
            <a:xfrm>
              <a:off x="1426878" y="2587308"/>
              <a:ext cx="587763" cy="553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739"/>
                </a:lnSpc>
              </a:pPr>
              <a:r>
                <a:rPr lang="en-US" sz="3200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   </a:t>
              </a:r>
            </a:p>
          </p:txBody>
        </p:sp>
        <p:sp>
          <p:nvSpPr>
            <p:cNvPr id="32" name="TextBox 21">
              <a:extLst>
                <a:ext uri="{FF2B5EF4-FFF2-40B4-BE49-F238E27FC236}">
                  <a16:creationId xmlns:a16="http://schemas.microsoft.com/office/drawing/2014/main" id="{455DBF61-BBEC-4792-9302-93C1C20ACD89}"/>
                </a:ext>
              </a:extLst>
            </p:cNvPr>
            <p:cNvSpPr txBox="1"/>
            <p:nvPr/>
          </p:nvSpPr>
          <p:spPr>
            <a:xfrm>
              <a:off x="1426878" y="3475189"/>
              <a:ext cx="587763" cy="553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739"/>
                </a:lnSpc>
              </a:pPr>
              <a:r>
                <a:rPr lang="en-US" sz="3200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   </a:t>
              </a:r>
            </a:p>
          </p:txBody>
        </p:sp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4EF02776-4188-1A7E-4FE5-5FE8FEF32170}"/>
                </a:ext>
              </a:extLst>
            </p:cNvPr>
            <p:cNvSpPr txBox="1"/>
            <p:nvPr/>
          </p:nvSpPr>
          <p:spPr>
            <a:xfrm>
              <a:off x="1426879" y="4749892"/>
              <a:ext cx="587763" cy="553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739"/>
                </a:lnSpc>
              </a:pPr>
              <a:r>
                <a:rPr lang="en-US" sz="3200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   </a:t>
              </a:r>
            </a:p>
          </p:txBody>
        </p:sp>
        <p:sp>
          <p:nvSpPr>
            <p:cNvPr id="34" name="TextBox 21">
              <a:extLst>
                <a:ext uri="{FF2B5EF4-FFF2-40B4-BE49-F238E27FC236}">
                  <a16:creationId xmlns:a16="http://schemas.microsoft.com/office/drawing/2014/main" id="{E466965E-D15B-8411-F781-5EA28601C849}"/>
                </a:ext>
              </a:extLst>
            </p:cNvPr>
            <p:cNvSpPr txBox="1"/>
            <p:nvPr/>
          </p:nvSpPr>
          <p:spPr>
            <a:xfrm>
              <a:off x="1409291" y="6039671"/>
              <a:ext cx="587763" cy="5534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4739"/>
                </a:lnSpc>
              </a:pPr>
              <a:r>
                <a:rPr lang="en-US" sz="3200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   </a:t>
              </a:r>
            </a:p>
          </p:txBody>
        </p:sp>
      </p:grpSp>
      <p:sp>
        <p:nvSpPr>
          <p:cNvPr id="36" name="Freeform 13">
            <a:extLst>
              <a:ext uri="{FF2B5EF4-FFF2-40B4-BE49-F238E27FC236}">
                <a16:creationId xmlns:a16="http://schemas.microsoft.com/office/drawing/2014/main" id="{AD0A843D-3D73-7A61-5BD9-587B3594088A}"/>
              </a:ext>
            </a:extLst>
          </p:cNvPr>
          <p:cNvSpPr/>
          <p:nvPr/>
        </p:nvSpPr>
        <p:spPr>
          <a:xfrm>
            <a:off x="1560987" y="2200257"/>
            <a:ext cx="220729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EFD671-2B9F-CA62-8D76-E59AB9891809}"/>
              </a:ext>
            </a:extLst>
          </p:cNvPr>
          <p:cNvSpPr txBox="1"/>
          <p:nvPr/>
        </p:nvSpPr>
        <p:spPr>
          <a:xfrm>
            <a:off x="1680441" y="1809309"/>
            <a:ext cx="3656579" cy="52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40" b="1" dirty="0">
                <a:latin typeface="IBM Plex Sans Condensed" panose="020B0506050203000203" pitchFamily="34" charset="0"/>
              </a:rPr>
              <a:t>Current Challenges</a:t>
            </a:r>
            <a:endParaRPr lang="ru-KZ" sz="2840" b="1" dirty="0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30C817A1-747D-0D5C-5398-7DDDC379F4BB}"/>
              </a:ext>
            </a:extLst>
          </p:cNvPr>
          <p:cNvSpPr/>
          <p:nvPr/>
        </p:nvSpPr>
        <p:spPr>
          <a:xfrm flipV="1">
            <a:off x="10230465" y="2168635"/>
            <a:ext cx="199607" cy="45719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EFD461F-AE10-1D4D-0FE8-141C3757FED3}"/>
              </a:ext>
            </a:extLst>
          </p:cNvPr>
          <p:cNvGrpSpPr/>
          <p:nvPr/>
        </p:nvGrpSpPr>
        <p:grpSpPr>
          <a:xfrm>
            <a:off x="10410407" y="2456604"/>
            <a:ext cx="8437299" cy="874983"/>
            <a:chOff x="10410407" y="2456604"/>
            <a:chExt cx="8437299" cy="874983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EFC4BAE-BF33-D3F5-FCD8-2992937C219A}"/>
                </a:ext>
              </a:extLst>
            </p:cNvPr>
            <p:cNvCxnSpPr/>
            <p:nvPr/>
          </p:nvCxnSpPr>
          <p:spPr>
            <a:xfrm>
              <a:off x="10410407" y="2692116"/>
              <a:ext cx="409993" cy="0"/>
            </a:xfrm>
            <a:prstGeom prst="straightConnector1">
              <a:avLst/>
            </a:prstGeom>
            <a:ln>
              <a:solidFill>
                <a:srgbClr val="378C94"/>
              </a:solidFill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42" name="TextBox 23">
              <a:extLst>
                <a:ext uri="{FF2B5EF4-FFF2-40B4-BE49-F238E27FC236}">
                  <a16:creationId xmlns:a16="http://schemas.microsoft.com/office/drawing/2014/main" id="{8F4BB476-BCEC-4C0C-4ECD-45C064FE1D0D}"/>
                </a:ext>
              </a:extLst>
            </p:cNvPr>
            <p:cNvSpPr txBox="1"/>
            <p:nvPr/>
          </p:nvSpPr>
          <p:spPr>
            <a:xfrm>
              <a:off x="10972800" y="2456604"/>
              <a:ext cx="7874906" cy="874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Biased resource estimation</a:t>
              </a:r>
            </a:p>
            <a:p>
              <a:pPr algn="l"/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9DB27AA-3450-0D9C-0958-C40F775C6684}"/>
              </a:ext>
            </a:extLst>
          </p:cNvPr>
          <p:cNvGrpSpPr/>
          <p:nvPr/>
        </p:nvGrpSpPr>
        <p:grpSpPr>
          <a:xfrm>
            <a:off x="10430072" y="3142530"/>
            <a:ext cx="8437299" cy="437492"/>
            <a:chOff x="10410407" y="2456604"/>
            <a:chExt cx="8437299" cy="43749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1A36607-C3E2-CF36-195F-A43DB99EE3D9}"/>
                </a:ext>
              </a:extLst>
            </p:cNvPr>
            <p:cNvCxnSpPr/>
            <p:nvPr/>
          </p:nvCxnSpPr>
          <p:spPr>
            <a:xfrm>
              <a:off x="10410407" y="2692116"/>
              <a:ext cx="409993" cy="0"/>
            </a:xfrm>
            <a:prstGeom prst="straightConnector1">
              <a:avLst/>
            </a:prstGeom>
            <a:ln>
              <a:solidFill>
                <a:srgbClr val="378C94"/>
              </a:solidFill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2AC32845-13B3-3A0C-B26D-1F05736A5ECB}"/>
                </a:ext>
              </a:extLst>
            </p:cNvPr>
            <p:cNvSpPr txBox="1"/>
            <p:nvPr/>
          </p:nvSpPr>
          <p:spPr>
            <a:xfrm>
              <a:off x="10972800" y="2456604"/>
              <a:ext cx="7874906" cy="437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Incorrect NPV calculations</a:t>
              </a:r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8298B7-0C1D-8E5F-B558-3BB5BFD4D7A6}"/>
              </a:ext>
            </a:extLst>
          </p:cNvPr>
          <p:cNvGrpSpPr/>
          <p:nvPr/>
        </p:nvGrpSpPr>
        <p:grpSpPr>
          <a:xfrm>
            <a:off x="10432530" y="3828455"/>
            <a:ext cx="8437299" cy="437492"/>
            <a:chOff x="10410407" y="2456604"/>
            <a:chExt cx="8437299" cy="43749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6868CA4-9B51-E7D2-BC56-534F042B9DCA}"/>
                </a:ext>
              </a:extLst>
            </p:cNvPr>
            <p:cNvCxnSpPr/>
            <p:nvPr/>
          </p:nvCxnSpPr>
          <p:spPr>
            <a:xfrm>
              <a:off x="10410407" y="2692116"/>
              <a:ext cx="409993" cy="0"/>
            </a:xfrm>
            <a:prstGeom prst="straightConnector1">
              <a:avLst/>
            </a:prstGeom>
            <a:ln>
              <a:solidFill>
                <a:srgbClr val="378C94"/>
              </a:solidFill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49" name="TextBox 23">
              <a:extLst>
                <a:ext uri="{FF2B5EF4-FFF2-40B4-BE49-F238E27FC236}">
                  <a16:creationId xmlns:a16="http://schemas.microsoft.com/office/drawing/2014/main" id="{2C7A994C-5C5A-C1BC-F86F-568280DDD0B4}"/>
                </a:ext>
              </a:extLst>
            </p:cNvPr>
            <p:cNvSpPr txBox="1"/>
            <p:nvPr/>
          </p:nvSpPr>
          <p:spPr>
            <a:xfrm>
              <a:off x="10972800" y="2456604"/>
              <a:ext cx="7874906" cy="437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Poor mine planning &amp; scheduling</a:t>
              </a:r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98B7D2-ABB4-0EC2-71C4-ED47F36D98D2}"/>
              </a:ext>
            </a:extLst>
          </p:cNvPr>
          <p:cNvGrpSpPr/>
          <p:nvPr/>
        </p:nvGrpSpPr>
        <p:grpSpPr>
          <a:xfrm>
            <a:off x="10434988" y="4514380"/>
            <a:ext cx="8437299" cy="437492"/>
            <a:chOff x="10410407" y="2456604"/>
            <a:chExt cx="8437299" cy="437492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7969178-3487-F048-4888-EC1A44F34511}"/>
                </a:ext>
              </a:extLst>
            </p:cNvPr>
            <p:cNvCxnSpPr/>
            <p:nvPr/>
          </p:nvCxnSpPr>
          <p:spPr>
            <a:xfrm>
              <a:off x="10410407" y="2692116"/>
              <a:ext cx="409993" cy="0"/>
            </a:xfrm>
            <a:prstGeom prst="straightConnector1">
              <a:avLst/>
            </a:prstGeom>
            <a:ln>
              <a:solidFill>
                <a:srgbClr val="378C94"/>
              </a:solidFill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52" name="TextBox 23">
              <a:extLst>
                <a:ext uri="{FF2B5EF4-FFF2-40B4-BE49-F238E27FC236}">
                  <a16:creationId xmlns:a16="http://schemas.microsoft.com/office/drawing/2014/main" id="{9C82BC04-F5CC-04C8-1480-4551807C2BFB}"/>
                </a:ext>
              </a:extLst>
            </p:cNvPr>
            <p:cNvSpPr txBox="1"/>
            <p:nvPr/>
          </p:nvSpPr>
          <p:spPr>
            <a:xfrm>
              <a:off x="10972800" y="2456604"/>
              <a:ext cx="7874906" cy="437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Domain boundaries lack continuity</a:t>
              </a:r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8DA904-84C3-55B4-B0CC-84F968820BC5}"/>
              </a:ext>
            </a:extLst>
          </p:cNvPr>
          <p:cNvGrpSpPr/>
          <p:nvPr/>
        </p:nvGrpSpPr>
        <p:grpSpPr>
          <a:xfrm>
            <a:off x="10437446" y="5200305"/>
            <a:ext cx="8437299" cy="437492"/>
            <a:chOff x="10410407" y="2456604"/>
            <a:chExt cx="8437299" cy="437492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59B98A9-D4DE-EF59-BDE4-B015DE0362FA}"/>
                </a:ext>
              </a:extLst>
            </p:cNvPr>
            <p:cNvCxnSpPr/>
            <p:nvPr/>
          </p:nvCxnSpPr>
          <p:spPr>
            <a:xfrm>
              <a:off x="10410407" y="2692116"/>
              <a:ext cx="409993" cy="0"/>
            </a:xfrm>
            <a:prstGeom prst="straightConnector1">
              <a:avLst/>
            </a:prstGeom>
            <a:ln>
              <a:solidFill>
                <a:srgbClr val="378C94"/>
              </a:solidFill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55" name="TextBox 23">
              <a:extLst>
                <a:ext uri="{FF2B5EF4-FFF2-40B4-BE49-F238E27FC236}">
                  <a16:creationId xmlns:a16="http://schemas.microsoft.com/office/drawing/2014/main" id="{84ACC3D3-429E-937E-BA0A-BB98C5A5E98B}"/>
                </a:ext>
              </a:extLst>
            </p:cNvPr>
            <p:cNvSpPr txBox="1"/>
            <p:nvPr/>
          </p:nvSpPr>
          <p:spPr>
            <a:xfrm>
              <a:off x="10972800" y="2456604"/>
              <a:ext cx="7874906" cy="437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43" spc="31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Low reproducibility between operators</a:t>
              </a:r>
              <a:endPara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endParaRPr>
            </a:p>
          </p:txBody>
        </p:sp>
      </p:grpSp>
      <p:sp>
        <p:nvSpPr>
          <p:cNvPr id="61" name="TextBox 24">
            <a:extLst>
              <a:ext uri="{FF2B5EF4-FFF2-40B4-BE49-F238E27FC236}">
                <a16:creationId xmlns:a16="http://schemas.microsoft.com/office/drawing/2014/main" id="{6D2CDD80-E2D7-FCA2-2B8D-A862B4DBEC6B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4">
            <a:extLst>
              <a:ext uri="{FF2B5EF4-FFF2-40B4-BE49-F238E27FC236}">
                <a16:creationId xmlns:a16="http://schemas.microsoft.com/office/drawing/2014/main" id="{89110C1F-6FF9-92A7-DFB6-17124721FBAF}"/>
              </a:ext>
            </a:extLst>
          </p:cNvPr>
          <p:cNvSpPr/>
          <p:nvPr/>
        </p:nvSpPr>
        <p:spPr>
          <a:xfrm>
            <a:off x="936237" y="2975908"/>
            <a:ext cx="16489679" cy="1850758"/>
          </a:xfrm>
          <a:custGeom>
            <a:avLst/>
            <a:gdLst/>
            <a:ahLst/>
            <a:cxnLst/>
            <a:rect l="l" t="t" r="r" b="b"/>
            <a:pathLst>
              <a:path w="2326259" h="635635">
                <a:moveTo>
                  <a:pt x="0" y="635635"/>
                </a:moveTo>
                <a:lnTo>
                  <a:pt x="2326259" y="635635"/>
                </a:lnTo>
                <a:lnTo>
                  <a:pt x="2326259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grpSp>
        <p:nvGrpSpPr>
          <p:cNvPr id="2" name="Group 2"/>
          <p:cNvGrpSpPr/>
          <p:nvPr/>
        </p:nvGrpSpPr>
        <p:grpSpPr>
          <a:xfrm>
            <a:off x="-201375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62" cy="4445"/>
            </a:xfrm>
            <a:custGeom>
              <a:avLst/>
              <a:gdLst/>
              <a:ahLst/>
              <a:cxnLst/>
              <a:rect l="l" t="t" r="r" b="b"/>
              <a:pathLst>
                <a:path w="5759962" h="4445">
                  <a:moveTo>
                    <a:pt x="0" y="0"/>
                  </a:moveTo>
                  <a:lnTo>
                    <a:pt x="0" y="4446"/>
                  </a:lnTo>
                  <a:lnTo>
                    <a:pt x="5759962" y="4446"/>
                  </a:lnTo>
                  <a:lnTo>
                    <a:pt x="5759962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62" cy="151514"/>
            </a:xfrm>
            <a:custGeom>
              <a:avLst/>
              <a:gdLst/>
              <a:ahLst/>
              <a:cxnLst/>
              <a:rect l="l" t="t" r="r" b="b"/>
              <a:pathLst>
                <a:path w="5759962" h="151514">
                  <a:moveTo>
                    <a:pt x="0" y="0"/>
                  </a:moveTo>
                  <a:lnTo>
                    <a:pt x="0" y="151514"/>
                  </a:lnTo>
                  <a:lnTo>
                    <a:pt x="5759962" y="151514"/>
                  </a:lnTo>
                  <a:lnTo>
                    <a:pt x="575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36247" y="-17210"/>
            <a:ext cx="6603789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Objective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Paper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15574" y="9818266"/>
            <a:ext cx="8866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6/29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70281" y="3055900"/>
            <a:ext cx="2911786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General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objective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8849" y="5460335"/>
            <a:ext cx="7542634" cy="111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Unsupervised Classification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Supervised Interpolation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52471" y="5460335"/>
            <a:ext cx="6922285" cy="1445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 Learning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Hierarchical Application</a:t>
            </a:r>
          </a:p>
          <a:p>
            <a:pPr algn="l">
              <a:lnSpc>
                <a:spcPts val="1421"/>
              </a:lnSpc>
            </a:pPr>
            <a:endParaRPr lang="en-US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92801" y="3711442"/>
            <a:ext cx="15918169" cy="99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Develop a semi-automated, two-step ML workflow to define geological domains and quantify their uncertainties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616466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401" y="552210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13288" y="615360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13288" y="552210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BD9B8ACD-5830-1BDC-F63A-0CD95173839B}"/>
              </a:ext>
            </a:extLst>
          </p:cNvPr>
          <p:cNvSpPr/>
          <p:nvPr/>
        </p:nvSpPr>
        <p:spPr>
          <a:xfrm>
            <a:off x="1344934" y="3402670"/>
            <a:ext cx="220729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58992DEA-8F0D-FB62-DA92-E5D611E205E9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4842" y="2967643"/>
            <a:ext cx="8108817" cy="4471433"/>
            <a:chOff x="0" y="0"/>
            <a:chExt cx="2556713" cy="140984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429764" cy="197358"/>
            </a:xfrm>
            <a:custGeom>
              <a:avLst/>
              <a:gdLst/>
              <a:ahLst/>
              <a:cxnLst/>
              <a:rect l="l" t="t" r="r" b="b"/>
              <a:pathLst>
                <a:path w="2429764" h="197358">
                  <a:moveTo>
                    <a:pt x="0" y="197358"/>
                  </a:moveTo>
                  <a:lnTo>
                    <a:pt x="2429764" y="197358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258318"/>
              <a:ext cx="2429764" cy="1088009"/>
            </a:xfrm>
            <a:custGeom>
              <a:avLst/>
              <a:gdLst/>
              <a:ahLst/>
              <a:cxnLst/>
              <a:rect l="l" t="t" r="r" b="b"/>
              <a:pathLst>
                <a:path w="2429764" h="1088009">
                  <a:moveTo>
                    <a:pt x="0" y="1088009"/>
                  </a:moveTo>
                  <a:lnTo>
                    <a:pt x="2429764" y="1088009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32776" y="2967643"/>
            <a:ext cx="8600685" cy="4471433"/>
            <a:chOff x="0" y="0"/>
            <a:chExt cx="2711793" cy="1409840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2584831" cy="197358"/>
            </a:xfrm>
            <a:custGeom>
              <a:avLst/>
              <a:gdLst/>
              <a:ahLst/>
              <a:cxnLst/>
              <a:rect l="l" t="t" r="r" b="b"/>
              <a:pathLst>
                <a:path w="2584831" h="197358">
                  <a:moveTo>
                    <a:pt x="0" y="197358"/>
                  </a:moveTo>
                  <a:lnTo>
                    <a:pt x="2584831" y="197358"/>
                  </a:lnTo>
                  <a:lnTo>
                    <a:pt x="25848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500" y="258318"/>
              <a:ext cx="2584831" cy="1088009"/>
            </a:xfrm>
            <a:custGeom>
              <a:avLst/>
              <a:gdLst/>
              <a:ahLst/>
              <a:cxnLst/>
              <a:rect l="l" t="t" r="r" b="b"/>
              <a:pathLst>
                <a:path w="2584831" h="1088009">
                  <a:moveTo>
                    <a:pt x="0" y="1088009"/>
                  </a:moveTo>
                  <a:lnTo>
                    <a:pt x="2584831" y="1088009"/>
                  </a:lnTo>
                  <a:lnTo>
                    <a:pt x="25848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36247" y="-17210"/>
            <a:ext cx="5485560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Literature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Context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15573" y="9788684"/>
            <a:ext cx="83537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7/29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70281" y="3146437"/>
            <a:ext cx="3801934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Traditional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approaches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68185" y="3146437"/>
            <a:ext cx="4870438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Machine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learning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approaches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3782" y="4850259"/>
            <a:ext cx="255843" cy="177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3781" y="437391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54312" y="3912035"/>
            <a:ext cx="255843" cy="117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4311" y="5225818"/>
            <a:ext cx="255843" cy="117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6191" y="4200727"/>
            <a:ext cx="6636445" cy="255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Manual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wireframing.</a:t>
            </a:r>
          </a:p>
          <a:p>
            <a:pPr algn="just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Grade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shells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cut-off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domaining.</a:t>
            </a:r>
          </a:p>
          <a:p>
            <a:pPr algn="just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Indicator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kriging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and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simulation.</a:t>
            </a:r>
          </a:p>
          <a:p>
            <a:pPr algn="just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Pluri-Gaussian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simulation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94990" y="3925586"/>
            <a:ext cx="7626465" cy="255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Multivariate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clustering.</a:t>
            </a:r>
            <a:endParaRPr lang="ru-RU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Neural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networks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discriminant analysis.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forest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 SVC.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Hybrid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geostatistical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workflows.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6247" y="7364885"/>
            <a:ext cx="16766417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Examples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cited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paper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include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Deutsch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(2006),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Faraj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(2021),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Moreira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et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al.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(2020),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Romary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et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al.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(2012),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Velasquez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Aguilar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(2020),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 err="1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Dumakor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-Dupey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Arya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1E1F21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(2021).</a:t>
            </a: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5996D9E5-2797-C057-2799-34F43B31AA89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A4E8BFF-F9EC-2304-58E7-C252B3AA2DDC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95F4BD11-6A00-1E82-6754-AEFDAE64CF79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40CB074A-8C27-269E-C77B-C54DEC6C0A01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35" name="TextBox 24">
            <a:extLst>
              <a:ext uri="{FF2B5EF4-FFF2-40B4-BE49-F238E27FC236}">
                <a16:creationId xmlns:a16="http://schemas.microsoft.com/office/drawing/2014/main" id="{1FF031EB-61E4-C604-72B7-740F1C991708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B6C0-B804-BC55-3D03-1D8F1BFB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3A4F223A-A2E5-69B8-C9B8-A2215B104A81}"/>
              </a:ext>
            </a:extLst>
          </p:cNvPr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CF661F7-4AB3-2F7F-59AB-7DEA3879BB8C}"/>
                </a:ext>
              </a:extLst>
            </p:cNvPr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1268FED-3332-A382-09A9-B61430FFB959}"/>
                </a:ext>
              </a:extLst>
            </p:cNvPr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2A1A147-C73F-CAE5-B534-CAAB1EE6B751}"/>
              </a:ext>
            </a:extLst>
          </p:cNvPr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7D2CC0F-E607-8E5B-EA1A-AF584588C055}"/>
                </a:ext>
              </a:extLst>
            </p:cNvPr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6BE8C8A-A5DB-4855-DBFF-AF0AF3884F45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2F69B85-DECC-B41B-0BB2-DAA7CED8D518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E1E795B-2185-4A25-2DB3-9F447A42FACE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CECD975-75C2-8FBC-F21D-63992C3C09F7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9F946F88-B4E0-C68C-C0A0-C17882528D06}"/>
              </a:ext>
            </a:extLst>
          </p:cNvPr>
          <p:cNvSpPr txBox="1"/>
          <p:nvPr/>
        </p:nvSpPr>
        <p:spPr>
          <a:xfrm>
            <a:off x="936247" y="-17210"/>
            <a:ext cx="5485560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Literature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Context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9897B80-4689-8BB0-81DF-17A793B131C9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EE1DDB4-8534-539A-590D-70EBD396BFC2}"/>
              </a:ext>
            </a:extLst>
          </p:cNvPr>
          <p:cNvSpPr txBox="1"/>
          <p:nvPr/>
        </p:nvSpPr>
        <p:spPr>
          <a:xfrm>
            <a:off x="16715573" y="9788684"/>
            <a:ext cx="83537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7/29</a:t>
            </a: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36A45840-AF8B-814F-5FB5-7B5861655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58406"/>
              </p:ext>
            </p:extLst>
          </p:nvPr>
        </p:nvGraphicFramePr>
        <p:xfrm>
          <a:off x="564949" y="1462269"/>
          <a:ext cx="16986003" cy="7871458"/>
        </p:xfrm>
        <a:graphic>
          <a:graphicData uri="http://schemas.openxmlformats.org/drawingml/2006/table">
            <a:tbl>
              <a:tblPr/>
              <a:tblGrid>
                <a:gridCol w="6277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2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Indicator Kriging / Sequential Indicator Simulation (BlockSIS)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Deutsch (2006)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Strong stationarity assumption and noisy probability models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Truncated / Pluri-Gaussian Simulation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Armstrong et al. (2011)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Complex parameterization and limited to categorical variables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Artificial Neural Networks &amp; Discriminant Analysis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Harris &amp; Pan (1999)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Requires labelled data and no spatial continuity imposed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Random Forest Classification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Cevik et al. (2021)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No spatial structure and independent sample predictions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Unsupervised Clustering (Faraj &amp; Ortiz)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Faraj &amp; Ortiz (2021) 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Provides sample labels only - no volume interpolation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44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Gaussian Kernel SVC for Domains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Velasquez &amp; Aguilar (2020)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Sans Condensed" panose="020B0506050203000203" pitchFamily="34" charset="0"/>
                          <a:ea typeface="Calibri" pitchFamily="34" charset="-122"/>
                          <a:cs typeface="Calibri" pitchFamily="34" charset="-120"/>
                        </a:rPr>
                        <a:t>Single model - no uncertainty quantification</a:t>
                      </a:r>
                      <a:endParaRPr lang="en-US" sz="2400" dirty="0">
                        <a:latin typeface="IBM Plex Sans Condensed" panose="020B050605020300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C447B76-523D-76C9-1855-176AA478645F}"/>
              </a:ext>
            </a:extLst>
          </p:cNvPr>
          <p:cNvSpPr txBox="1"/>
          <p:nvPr/>
        </p:nvSpPr>
        <p:spPr>
          <a:xfrm>
            <a:off x="7835305" y="1867945"/>
            <a:ext cx="348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IBM Plex Sans Condensed" panose="020B0506050203000203" pitchFamily="34" charset="0"/>
              </a:rPr>
              <a:t>Reference</a:t>
            </a:r>
            <a:endParaRPr lang="ru-KZ" sz="24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92B1FE-F9D6-7029-3FAE-3147EAB8700D}"/>
              </a:ext>
            </a:extLst>
          </p:cNvPr>
          <p:cNvSpPr txBox="1"/>
          <p:nvPr/>
        </p:nvSpPr>
        <p:spPr>
          <a:xfrm>
            <a:off x="13396979" y="1808399"/>
            <a:ext cx="348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IBM Plex Sans Condensed" panose="020B0506050203000203" pitchFamily="34" charset="0"/>
              </a:rPr>
              <a:t>Limitation</a:t>
            </a:r>
            <a:endParaRPr lang="ru-KZ" sz="2400" b="1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1A8F66-EF48-B9A9-8672-393AFED90F47}"/>
              </a:ext>
            </a:extLst>
          </p:cNvPr>
          <p:cNvSpPr/>
          <p:nvPr/>
        </p:nvSpPr>
        <p:spPr>
          <a:xfrm>
            <a:off x="564949" y="1480565"/>
            <a:ext cx="16986003" cy="10481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BED116-843E-AE17-6086-160DD094BBB9}"/>
              </a:ext>
            </a:extLst>
          </p:cNvPr>
          <p:cNvSpPr txBox="1"/>
          <p:nvPr/>
        </p:nvSpPr>
        <p:spPr>
          <a:xfrm>
            <a:off x="2448787" y="1773802"/>
            <a:ext cx="348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IBM Plex Sans Condensed" panose="020B0506050203000203" pitchFamily="34" charset="0"/>
              </a:rPr>
              <a:t>Method</a:t>
            </a:r>
            <a:endParaRPr lang="ru-KZ" sz="2400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D6B903-B558-B626-FDCF-2862E28D7EE5}"/>
              </a:ext>
            </a:extLst>
          </p:cNvPr>
          <p:cNvSpPr txBox="1"/>
          <p:nvPr/>
        </p:nvSpPr>
        <p:spPr>
          <a:xfrm>
            <a:off x="7815988" y="1781608"/>
            <a:ext cx="348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IBM Plex Sans Condensed" panose="020B0506050203000203" pitchFamily="34" charset="0"/>
              </a:rPr>
              <a:t>References</a:t>
            </a:r>
            <a:endParaRPr lang="ru-KZ" sz="2400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664D59-013C-9B3E-E231-2FA70DEDB9E1}"/>
              </a:ext>
            </a:extLst>
          </p:cNvPr>
          <p:cNvSpPr txBox="1"/>
          <p:nvPr/>
        </p:nvSpPr>
        <p:spPr>
          <a:xfrm>
            <a:off x="13105474" y="1773802"/>
            <a:ext cx="3483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IBM Plex Sans Condensed" panose="020B0506050203000203" pitchFamily="34" charset="0"/>
              </a:rPr>
              <a:t>Limitation</a:t>
            </a:r>
            <a:endParaRPr lang="ru-KZ" sz="2400" b="1" dirty="0">
              <a:solidFill>
                <a:schemeClr val="bg1"/>
              </a:solidFill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AE67C534-FFE9-6ABD-AD45-1C746DFD123A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615639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0"/>
                  </a:moveTo>
                  <a:lnTo>
                    <a:pt x="0" y="151508"/>
                  </a:lnTo>
                  <a:lnTo>
                    <a:pt x="5759958" y="151508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09717" y="3450590"/>
            <a:ext cx="6722188" cy="2192803"/>
            <a:chOff x="63500" y="63500"/>
            <a:chExt cx="2119503" cy="691388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2119503" cy="197358"/>
            </a:xfrm>
            <a:custGeom>
              <a:avLst/>
              <a:gdLst/>
              <a:ahLst/>
              <a:cxnLst/>
              <a:rect l="l" t="t" r="r" b="b"/>
              <a:pathLst>
                <a:path w="2119503" h="197358">
                  <a:moveTo>
                    <a:pt x="0" y="197358"/>
                  </a:moveTo>
                  <a:lnTo>
                    <a:pt x="2119503" y="197358"/>
                  </a:lnTo>
                  <a:lnTo>
                    <a:pt x="2119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258318"/>
              <a:ext cx="2119503" cy="496570"/>
            </a:xfrm>
            <a:custGeom>
              <a:avLst/>
              <a:gdLst/>
              <a:ahLst/>
              <a:cxnLst/>
              <a:rect l="l" t="t" r="r" b="b"/>
              <a:pathLst>
                <a:path w="2119503" h="496570">
                  <a:moveTo>
                    <a:pt x="0" y="496570"/>
                  </a:moveTo>
                  <a:lnTo>
                    <a:pt x="2119503" y="496570"/>
                  </a:lnTo>
                  <a:lnTo>
                    <a:pt x="21195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36247" y="-17210"/>
            <a:ext cx="5690259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Paper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Contribution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15574" y="9788660"/>
            <a:ext cx="8104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8/29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401" y="438551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7401" y="542885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401" y="647219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7401" y="334214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6191" y="3280400"/>
            <a:ext cx="8085012" cy="407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Combines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clustering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spatial classification.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subsets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subsets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create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weak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learners.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Averages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weak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learners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into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probability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</a:p>
          <a:p>
            <a:pPr algn="l">
              <a:lnSpc>
                <a:spcPts val="1421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membership.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Converts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probabilities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into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categorical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boundaries.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30475" y="4083500"/>
            <a:ext cx="6017426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knowledge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selects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variables;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42784" y="4572544"/>
            <a:ext cx="6247288" cy="8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makes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classifica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reproducible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uncertainty-aware.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43760" y="3427958"/>
            <a:ext cx="1471587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Key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idea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81EF42D2-F6B7-9767-A835-B96C2084EAE0}"/>
              </a:ext>
            </a:extLst>
          </p:cNvPr>
          <p:cNvSpPr txBox="1"/>
          <p:nvPr/>
        </p:nvSpPr>
        <p:spPr>
          <a:xfrm>
            <a:off x="15316200" y="29346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Problem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6"/>
                  </a:lnTo>
                  <a:lnTo>
                    <a:pt x="5759958" y="4446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0"/>
                  </a:moveTo>
                  <a:lnTo>
                    <a:pt x="0" y="151514"/>
                  </a:lnTo>
                  <a:lnTo>
                    <a:pt x="5759958" y="151514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449726"/>
            <a:chOff x="0" y="0"/>
            <a:chExt cx="5169599" cy="141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41732"/>
            </a:xfrm>
            <a:custGeom>
              <a:avLst/>
              <a:gdLst/>
              <a:ahLst/>
              <a:cxnLst/>
              <a:rect l="l" t="t" r="r" b="b"/>
              <a:pathLst>
                <a:path w="5169535" h="141732">
                  <a:moveTo>
                    <a:pt x="0" y="141732"/>
                  </a:moveTo>
                  <a:lnTo>
                    <a:pt x="5169535" y="141732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A7369E5-34DB-D9FD-BA38-78519C36A7A6}"/>
              </a:ext>
            </a:extLst>
          </p:cNvPr>
          <p:cNvGrpSpPr/>
          <p:nvPr/>
        </p:nvGrpSpPr>
        <p:grpSpPr>
          <a:xfrm>
            <a:off x="8736307" y="3275301"/>
            <a:ext cx="612645" cy="129699"/>
            <a:chOff x="8736307" y="3275301"/>
            <a:chExt cx="612645" cy="129699"/>
          </a:xfrm>
        </p:grpSpPr>
        <p:sp>
          <p:nvSpPr>
            <p:cNvPr id="35" name="Freeform 35"/>
            <p:cNvSpPr/>
            <p:nvPr/>
          </p:nvSpPr>
          <p:spPr>
            <a:xfrm>
              <a:off x="8736307" y="3328470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0" y="0"/>
                  </a:moveTo>
                  <a:lnTo>
                    <a:pt x="140462" y="0"/>
                  </a:lnTo>
                  <a:lnTo>
                    <a:pt x="14046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81794" y="3275301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52705" y="20447"/>
                  </a:moveTo>
                  <a:cubicBezTo>
                    <a:pt x="46228" y="18796"/>
                    <a:pt x="17780" y="9779"/>
                    <a:pt x="0" y="0"/>
                  </a:cubicBezTo>
                  <a:lnTo>
                    <a:pt x="0" y="40894"/>
                  </a:lnTo>
                  <a:cubicBezTo>
                    <a:pt x="17780" y="31115"/>
                    <a:pt x="46228" y="22098"/>
                    <a:pt x="52705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61570D3-2C28-408F-1D14-7D7D7DC1FEB9}"/>
              </a:ext>
            </a:extLst>
          </p:cNvPr>
          <p:cNvGrpSpPr/>
          <p:nvPr/>
        </p:nvGrpSpPr>
        <p:grpSpPr>
          <a:xfrm>
            <a:off x="12601491" y="3275301"/>
            <a:ext cx="612645" cy="129699"/>
            <a:chOff x="12601491" y="3275301"/>
            <a:chExt cx="612645" cy="129699"/>
          </a:xfrm>
        </p:grpSpPr>
        <p:sp>
          <p:nvSpPr>
            <p:cNvPr id="38" name="Freeform 38"/>
            <p:cNvSpPr/>
            <p:nvPr/>
          </p:nvSpPr>
          <p:spPr>
            <a:xfrm>
              <a:off x="12601491" y="3328470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0" y="0"/>
                  </a:moveTo>
                  <a:lnTo>
                    <a:pt x="140462" y="0"/>
                  </a:lnTo>
                  <a:lnTo>
                    <a:pt x="14046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3046978" y="3275301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52705" y="20447"/>
                  </a:moveTo>
                  <a:cubicBezTo>
                    <a:pt x="46228" y="18796"/>
                    <a:pt x="17780" y="9779"/>
                    <a:pt x="0" y="0"/>
                  </a:cubicBezTo>
                  <a:lnTo>
                    <a:pt x="0" y="40894"/>
                  </a:lnTo>
                  <a:cubicBezTo>
                    <a:pt x="17780" y="31115"/>
                    <a:pt x="46228" y="22098"/>
                    <a:pt x="52705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87E4D4C-D7DE-8E94-55A8-3D7C65EEA39F}"/>
              </a:ext>
            </a:extLst>
          </p:cNvPr>
          <p:cNvGrpSpPr/>
          <p:nvPr/>
        </p:nvGrpSpPr>
        <p:grpSpPr>
          <a:xfrm>
            <a:off x="12651035" y="4817987"/>
            <a:ext cx="612645" cy="129699"/>
            <a:chOff x="12651035" y="4817987"/>
            <a:chExt cx="612645" cy="129699"/>
          </a:xfrm>
        </p:grpSpPr>
        <p:sp>
          <p:nvSpPr>
            <p:cNvPr id="44" name="Freeform 44"/>
            <p:cNvSpPr/>
            <p:nvPr/>
          </p:nvSpPr>
          <p:spPr>
            <a:xfrm>
              <a:off x="12818193" y="4870753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140462" y="7619"/>
                  </a:moveTo>
                  <a:lnTo>
                    <a:pt x="0" y="7619"/>
                  </a:lnTo>
                  <a:lnTo>
                    <a:pt x="0" y="0"/>
                  </a:lnTo>
                  <a:lnTo>
                    <a:pt x="140462" y="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2651035" y="4817987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0" y="20447"/>
                  </a:moveTo>
                  <a:cubicBezTo>
                    <a:pt x="6477" y="22097"/>
                    <a:pt x="34925" y="31114"/>
                    <a:pt x="52705" y="40893"/>
                  </a:cubicBezTo>
                  <a:lnTo>
                    <a:pt x="52705" y="0"/>
                  </a:lnTo>
                  <a:cubicBezTo>
                    <a:pt x="34925" y="9778"/>
                    <a:pt x="6477" y="18795"/>
                    <a:pt x="0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94E931C-96D6-93D8-7DF6-EC0973BE3DDC}"/>
              </a:ext>
            </a:extLst>
          </p:cNvPr>
          <p:cNvGrpSpPr/>
          <p:nvPr/>
        </p:nvGrpSpPr>
        <p:grpSpPr>
          <a:xfrm>
            <a:off x="8785850" y="4817987"/>
            <a:ext cx="612645" cy="129699"/>
            <a:chOff x="8785850" y="4817987"/>
            <a:chExt cx="612645" cy="129699"/>
          </a:xfrm>
        </p:grpSpPr>
        <p:sp>
          <p:nvSpPr>
            <p:cNvPr id="47" name="Freeform 47"/>
            <p:cNvSpPr/>
            <p:nvPr/>
          </p:nvSpPr>
          <p:spPr>
            <a:xfrm>
              <a:off x="8953008" y="4870753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140462" y="7619"/>
                  </a:moveTo>
                  <a:lnTo>
                    <a:pt x="0" y="7619"/>
                  </a:lnTo>
                  <a:lnTo>
                    <a:pt x="0" y="0"/>
                  </a:lnTo>
                  <a:lnTo>
                    <a:pt x="140462" y="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8785850" y="4817987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0" y="20447"/>
                  </a:moveTo>
                  <a:cubicBezTo>
                    <a:pt x="6477" y="22097"/>
                    <a:pt x="34925" y="31114"/>
                    <a:pt x="52705" y="40893"/>
                  </a:cubicBezTo>
                  <a:lnTo>
                    <a:pt x="52705" y="0"/>
                  </a:lnTo>
                  <a:cubicBezTo>
                    <a:pt x="34925" y="9778"/>
                    <a:pt x="6477" y="18795"/>
                    <a:pt x="0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902443" y="-17210"/>
            <a:ext cx="6301303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Workflow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at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Glance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115CF1F-ECE4-0710-7138-1446CD1A7016}"/>
              </a:ext>
            </a:extLst>
          </p:cNvPr>
          <p:cNvGrpSpPr/>
          <p:nvPr/>
        </p:nvGrpSpPr>
        <p:grpSpPr>
          <a:xfrm>
            <a:off x="1667726" y="2882986"/>
            <a:ext cx="3202996" cy="914735"/>
            <a:chOff x="1667726" y="2882986"/>
            <a:chExt cx="3202996" cy="914735"/>
          </a:xfrm>
        </p:grpSpPr>
        <p:sp>
          <p:nvSpPr>
            <p:cNvPr id="16" name="Freeform 16"/>
            <p:cNvSpPr/>
            <p:nvPr/>
          </p:nvSpPr>
          <p:spPr>
            <a:xfrm>
              <a:off x="1679810" y="2895070"/>
              <a:ext cx="3178829" cy="890568"/>
            </a:xfrm>
            <a:custGeom>
              <a:avLst/>
              <a:gdLst/>
              <a:ahLst/>
              <a:cxnLst/>
              <a:rect l="l" t="t" r="r" b="b"/>
              <a:pathLst>
                <a:path w="1002284" h="280796">
                  <a:moveTo>
                    <a:pt x="0" y="280796"/>
                  </a:moveTo>
                  <a:lnTo>
                    <a:pt x="1002284" y="280796"/>
                  </a:lnTo>
                  <a:lnTo>
                    <a:pt x="1002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667726" y="2882986"/>
              <a:ext cx="3202996" cy="914735"/>
            </a:xfrm>
            <a:custGeom>
              <a:avLst/>
              <a:gdLst/>
              <a:ahLst/>
              <a:cxnLst/>
              <a:rect l="l" t="t" r="r" b="b"/>
              <a:pathLst>
                <a:path w="1009904" h="288416">
                  <a:moveTo>
                    <a:pt x="3810" y="280796"/>
                  </a:moveTo>
                  <a:lnTo>
                    <a:pt x="1006094" y="280796"/>
                  </a:lnTo>
                  <a:lnTo>
                    <a:pt x="1006094" y="284606"/>
                  </a:lnTo>
                  <a:lnTo>
                    <a:pt x="1002284" y="284606"/>
                  </a:lnTo>
                  <a:lnTo>
                    <a:pt x="1002284" y="3810"/>
                  </a:lnTo>
                  <a:lnTo>
                    <a:pt x="1006094" y="3810"/>
                  </a:lnTo>
                  <a:lnTo>
                    <a:pt x="1006094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094" y="0"/>
                  </a:lnTo>
                  <a:lnTo>
                    <a:pt x="1009904" y="0"/>
                  </a:lnTo>
                  <a:lnTo>
                    <a:pt x="1009904" y="3810"/>
                  </a:lnTo>
                  <a:lnTo>
                    <a:pt x="1009904" y="284606"/>
                  </a:lnTo>
                  <a:lnTo>
                    <a:pt x="1009904" y="288416"/>
                  </a:lnTo>
                  <a:lnTo>
                    <a:pt x="1006094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38226" y="3024059"/>
              <a:ext cx="1889062" cy="6412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Geochemical composites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70F3102-1196-36B3-B4F6-76F694D80D6E}"/>
              </a:ext>
            </a:extLst>
          </p:cNvPr>
          <p:cNvGrpSpPr/>
          <p:nvPr/>
        </p:nvGrpSpPr>
        <p:grpSpPr>
          <a:xfrm>
            <a:off x="1667726" y="4425669"/>
            <a:ext cx="3202996" cy="914735"/>
            <a:chOff x="1667726" y="4425669"/>
            <a:chExt cx="3202996" cy="914735"/>
          </a:xfrm>
        </p:grpSpPr>
        <p:sp>
          <p:nvSpPr>
            <p:cNvPr id="30" name="Freeform 30"/>
            <p:cNvSpPr/>
            <p:nvPr/>
          </p:nvSpPr>
          <p:spPr>
            <a:xfrm>
              <a:off x="1679810" y="4437753"/>
              <a:ext cx="3178829" cy="890568"/>
            </a:xfrm>
            <a:custGeom>
              <a:avLst/>
              <a:gdLst/>
              <a:ahLst/>
              <a:cxnLst/>
              <a:rect l="l" t="t" r="r" b="b"/>
              <a:pathLst>
                <a:path w="1002284" h="280796">
                  <a:moveTo>
                    <a:pt x="0" y="280796"/>
                  </a:moveTo>
                  <a:lnTo>
                    <a:pt x="1002284" y="280796"/>
                  </a:lnTo>
                  <a:lnTo>
                    <a:pt x="1002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67726" y="4425669"/>
              <a:ext cx="3202996" cy="914735"/>
            </a:xfrm>
            <a:custGeom>
              <a:avLst/>
              <a:gdLst/>
              <a:ahLst/>
              <a:cxnLst/>
              <a:rect l="l" t="t" r="r" b="b"/>
              <a:pathLst>
                <a:path w="1009904" h="288416">
                  <a:moveTo>
                    <a:pt x="3810" y="280796"/>
                  </a:moveTo>
                  <a:lnTo>
                    <a:pt x="1006094" y="280796"/>
                  </a:lnTo>
                  <a:lnTo>
                    <a:pt x="1006094" y="284606"/>
                  </a:lnTo>
                  <a:lnTo>
                    <a:pt x="1002284" y="284606"/>
                  </a:lnTo>
                  <a:lnTo>
                    <a:pt x="1002284" y="3810"/>
                  </a:lnTo>
                  <a:lnTo>
                    <a:pt x="1006094" y="3810"/>
                  </a:lnTo>
                  <a:lnTo>
                    <a:pt x="1006094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094" y="0"/>
                  </a:lnTo>
                  <a:lnTo>
                    <a:pt x="1009904" y="0"/>
                  </a:lnTo>
                  <a:lnTo>
                    <a:pt x="1009904" y="3810"/>
                  </a:lnTo>
                  <a:lnTo>
                    <a:pt x="1009904" y="284606"/>
                  </a:lnTo>
                  <a:lnTo>
                    <a:pt x="1009904" y="288416"/>
                  </a:lnTo>
                  <a:lnTo>
                    <a:pt x="1006094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51154" y="4506274"/>
              <a:ext cx="1676134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Repeat hierarchically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1B165C9-7FC5-7382-988E-0C437C4147BA}"/>
              </a:ext>
            </a:extLst>
          </p:cNvPr>
          <p:cNvGrpSpPr/>
          <p:nvPr/>
        </p:nvGrpSpPr>
        <p:grpSpPr>
          <a:xfrm>
            <a:off x="5532911" y="4425669"/>
            <a:ext cx="3203399" cy="914735"/>
            <a:chOff x="5532911" y="4425669"/>
            <a:chExt cx="3203399" cy="914735"/>
          </a:xfrm>
        </p:grpSpPr>
        <p:sp>
          <p:nvSpPr>
            <p:cNvPr id="28" name="Freeform 28"/>
            <p:cNvSpPr/>
            <p:nvPr/>
          </p:nvSpPr>
          <p:spPr>
            <a:xfrm>
              <a:off x="5544995" y="4437753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0" y="280796"/>
                  </a:lnTo>
                  <a:lnTo>
                    <a:pt x="10024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532911" y="4425669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0" y="280796"/>
                  </a:lnTo>
                  <a:lnTo>
                    <a:pt x="1006220" y="284606"/>
                  </a:lnTo>
                  <a:lnTo>
                    <a:pt x="1002410" y="284606"/>
                  </a:lnTo>
                  <a:lnTo>
                    <a:pt x="1002410" y="3810"/>
                  </a:lnTo>
                  <a:lnTo>
                    <a:pt x="1006220" y="3810"/>
                  </a:lnTo>
                  <a:lnTo>
                    <a:pt x="1006220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0" y="0"/>
                  </a:lnTo>
                  <a:lnTo>
                    <a:pt x="1010030" y="0"/>
                  </a:lnTo>
                  <a:lnTo>
                    <a:pt x="1010030" y="3810"/>
                  </a:lnTo>
                  <a:lnTo>
                    <a:pt x="1010030" y="284606"/>
                  </a:lnTo>
                  <a:lnTo>
                    <a:pt x="1010030" y="288416"/>
                  </a:lnTo>
                  <a:lnTo>
                    <a:pt x="1006220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03666" y="4533583"/>
              <a:ext cx="1888747" cy="6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Threshold</a:t>
              </a:r>
              <a:r>
                <a:rPr lang="en-US" sz="2211" spc="-28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into domains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72F531C-4F5B-F305-7374-014B50DFD245}"/>
              </a:ext>
            </a:extLst>
          </p:cNvPr>
          <p:cNvGrpSpPr/>
          <p:nvPr/>
        </p:nvGrpSpPr>
        <p:grpSpPr>
          <a:xfrm>
            <a:off x="5532911" y="2882986"/>
            <a:ext cx="3203399" cy="914735"/>
            <a:chOff x="5532911" y="2882986"/>
            <a:chExt cx="3203399" cy="914735"/>
          </a:xfrm>
        </p:grpSpPr>
        <p:sp>
          <p:nvSpPr>
            <p:cNvPr id="18" name="Freeform 18"/>
            <p:cNvSpPr/>
            <p:nvPr/>
          </p:nvSpPr>
          <p:spPr>
            <a:xfrm>
              <a:off x="5544995" y="2895070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0" y="280796"/>
                  </a:lnTo>
                  <a:lnTo>
                    <a:pt x="10024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532911" y="2882986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0" y="280796"/>
                  </a:lnTo>
                  <a:lnTo>
                    <a:pt x="1006220" y="284606"/>
                  </a:lnTo>
                  <a:lnTo>
                    <a:pt x="1002410" y="284606"/>
                  </a:lnTo>
                  <a:lnTo>
                    <a:pt x="1002410" y="3810"/>
                  </a:lnTo>
                  <a:lnTo>
                    <a:pt x="1006220" y="3810"/>
                  </a:lnTo>
                  <a:lnTo>
                    <a:pt x="1006220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0" y="0"/>
                  </a:lnTo>
                  <a:lnTo>
                    <a:pt x="1010030" y="0"/>
                  </a:lnTo>
                  <a:lnTo>
                    <a:pt x="1010030" y="3810"/>
                  </a:lnTo>
                  <a:lnTo>
                    <a:pt x="1010030" y="284606"/>
                  </a:lnTo>
                  <a:lnTo>
                    <a:pt x="1010030" y="288416"/>
                  </a:lnTo>
                  <a:lnTo>
                    <a:pt x="1006220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05630" y="2990974"/>
              <a:ext cx="1895122" cy="6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Select</a:t>
              </a:r>
              <a:r>
                <a:rPr lang="en-US" sz="2211" spc="-2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relevant variables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7D997AC-106A-36AC-3CA9-697E16302E9F}"/>
              </a:ext>
            </a:extLst>
          </p:cNvPr>
          <p:cNvGrpSpPr/>
          <p:nvPr/>
        </p:nvGrpSpPr>
        <p:grpSpPr>
          <a:xfrm>
            <a:off x="9398495" y="4425669"/>
            <a:ext cx="3203399" cy="914735"/>
            <a:chOff x="9398495" y="4425669"/>
            <a:chExt cx="3203399" cy="914735"/>
          </a:xfrm>
        </p:grpSpPr>
        <p:sp>
          <p:nvSpPr>
            <p:cNvPr id="26" name="Freeform 26"/>
            <p:cNvSpPr/>
            <p:nvPr/>
          </p:nvSpPr>
          <p:spPr>
            <a:xfrm>
              <a:off x="9410579" y="4437753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1" y="280796"/>
                  </a:lnTo>
                  <a:lnTo>
                    <a:pt x="1002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398495" y="4425669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1" y="280796"/>
                  </a:lnTo>
                  <a:lnTo>
                    <a:pt x="1006221" y="284606"/>
                  </a:lnTo>
                  <a:lnTo>
                    <a:pt x="1002411" y="284606"/>
                  </a:lnTo>
                  <a:lnTo>
                    <a:pt x="1002411" y="3810"/>
                  </a:lnTo>
                  <a:lnTo>
                    <a:pt x="1006221" y="3810"/>
                  </a:lnTo>
                  <a:lnTo>
                    <a:pt x="1006221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1" y="0"/>
                  </a:lnTo>
                  <a:lnTo>
                    <a:pt x="1010031" y="0"/>
                  </a:lnTo>
                  <a:lnTo>
                    <a:pt x="1010031" y="3810"/>
                  </a:lnTo>
                  <a:lnTo>
                    <a:pt x="1010031" y="284606"/>
                  </a:lnTo>
                  <a:lnTo>
                    <a:pt x="1010031" y="288416"/>
                  </a:lnTo>
                  <a:lnTo>
                    <a:pt x="1006221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57621" y="4506274"/>
              <a:ext cx="1912371" cy="6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Average</a:t>
              </a:r>
              <a:r>
                <a:rPr lang="en-US" sz="2211" spc="-28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model probabilities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21C050F-C55E-0E23-F2B1-E8CA54B795BE}"/>
              </a:ext>
            </a:extLst>
          </p:cNvPr>
          <p:cNvGrpSpPr/>
          <p:nvPr/>
        </p:nvGrpSpPr>
        <p:grpSpPr>
          <a:xfrm>
            <a:off x="9398495" y="2882986"/>
            <a:ext cx="3203399" cy="914735"/>
            <a:chOff x="9398495" y="2882986"/>
            <a:chExt cx="3203399" cy="914735"/>
          </a:xfrm>
        </p:grpSpPr>
        <p:sp>
          <p:nvSpPr>
            <p:cNvPr id="20" name="Freeform 20"/>
            <p:cNvSpPr/>
            <p:nvPr/>
          </p:nvSpPr>
          <p:spPr>
            <a:xfrm>
              <a:off x="9410579" y="2895070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1" y="280796"/>
                  </a:lnTo>
                  <a:lnTo>
                    <a:pt x="1002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98495" y="2882986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1" y="280796"/>
                  </a:lnTo>
                  <a:lnTo>
                    <a:pt x="1006221" y="284606"/>
                  </a:lnTo>
                  <a:lnTo>
                    <a:pt x="1002411" y="284606"/>
                  </a:lnTo>
                  <a:lnTo>
                    <a:pt x="1002411" y="3810"/>
                  </a:lnTo>
                  <a:lnTo>
                    <a:pt x="1006221" y="3810"/>
                  </a:lnTo>
                  <a:lnTo>
                    <a:pt x="1006221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1" y="0"/>
                  </a:lnTo>
                  <a:lnTo>
                    <a:pt x="1010031" y="0"/>
                  </a:lnTo>
                  <a:lnTo>
                    <a:pt x="1010031" y="3810"/>
                  </a:lnTo>
                  <a:lnTo>
                    <a:pt x="1010031" y="284606"/>
                  </a:lnTo>
                  <a:lnTo>
                    <a:pt x="1010031" y="288416"/>
                  </a:lnTo>
                  <a:lnTo>
                    <a:pt x="1006221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87721" y="3024059"/>
              <a:ext cx="2582482" cy="6412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Optimize log-normal distributions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E37CD94-AA3A-147C-889F-B9F7EE812484}"/>
              </a:ext>
            </a:extLst>
          </p:cNvPr>
          <p:cNvGrpSpPr/>
          <p:nvPr/>
        </p:nvGrpSpPr>
        <p:grpSpPr>
          <a:xfrm>
            <a:off x="13263680" y="4425669"/>
            <a:ext cx="3203399" cy="914735"/>
            <a:chOff x="13263680" y="4425669"/>
            <a:chExt cx="3203399" cy="914735"/>
          </a:xfrm>
        </p:grpSpPr>
        <p:sp>
          <p:nvSpPr>
            <p:cNvPr id="24" name="Freeform 24"/>
            <p:cNvSpPr/>
            <p:nvPr/>
          </p:nvSpPr>
          <p:spPr>
            <a:xfrm>
              <a:off x="13275764" y="4437753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1" y="280796"/>
                  </a:lnTo>
                  <a:lnTo>
                    <a:pt x="1002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3263680" y="4425669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1" y="280796"/>
                  </a:lnTo>
                  <a:lnTo>
                    <a:pt x="1006221" y="284606"/>
                  </a:lnTo>
                  <a:lnTo>
                    <a:pt x="1002411" y="284606"/>
                  </a:lnTo>
                  <a:lnTo>
                    <a:pt x="1002411" y="3810"/>
                  </a:lnTo>
                  <a:lnTo>
                    <a:pt x="1006221" y="3810"/>
                  </a:lnTo>
                  <a:lnTo>
                    <a:pt x="1006221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1" y="0"/>
                  </a:lnTo>
                  <a:lnTo>
                    <a:pt x="1010031" y="0"/>
                  </a:lnTo>
                  <a:lnTo>
                    <a:pt x="1010031" y="3810"/>
                  </a:lnTo>
                  <a:lnTo>
                    <a:pt x="1010031" y="284606"/>
                  </a:lnTo>
                  <a:lnTo>
                    <a:pt x="1010031" y="288416"/>
                  </a:lnTo>
                  <a:lnTo>
                    <a:pt x="1006221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094342" y="4533583"/>
              <a:ext cx="1572667" cy="6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Train</a:t>
              </a:r>
              <a:r>
                <a:rPr lang="en-US" sz="2211" spc="-28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many SVC</a:t>
              </a:r>
              <a:r>
                <a:rPr lang="en-US" sz="2211" spc="-28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models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ABB3966-2504-ABC8-00A7-19B408270676}"/>
              </a:ext>
            </a:extLst>
          </p:cNvPr>
          <p:cNvGrpSpPr/>
          <p:nvPr/>
        </p:nvGrpSpPr>
        <p:grpSpPr>
          <a:xfrm>
            <a:off x="13263680" y="2882986"/>
            <a:ext cx="3203399" cy="914735"/>
            <a:chOff x="13263680" y="2882986"/>
            <a:chExt cx="3203399" cy="914735"/>
          </a:xfrm>
        </p:grpSpPr>
        <p:sp>
          <p:nvSpPr>
            <p:cNvPr id="22" name="Freeform 22"/>
            <p:cNvSpPr/>
            <p:nvPr/>
          </p:nvSpPr>
          <p:spPr>
            <a:xfrm>
              <a:off x="13275764" y="2895070"/>
              <a:ext cx="3179231" cy="890568"/>
            </a:xfrm>
            <a:custGeom>
              <a:avLst/>
              <a:gdLst/>
              <a:ahLst/>
              <a:cxnLst/>
              <a:rect l="l" t="t" r="r" b="b"/>
              <a:pathLst>
                <a:path w="1002411" h="280796">
                  <a:moveTo>
                    <a:pt x="0" y="280796"/>
                  </a:moveTo>
                  <a:lnTo>
                    <a:pt x="1002411" y="280796"/>
                  </a:lnTo>
                  <a:lnTo>
                    <a:pt x="10024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3263680" y="2882986"/>
              <a:ext cx="3203399" cy="914735"/>
            </a:xfrm>
            <a:custGeom>
              <a:avLst/>
              <a:gdLst/>
              <a:ahLst/>
              <a:cxnLst/>
              <a:rect l="l" t="t" r="r" b="b"/>
              <a:pathLst>
                <a:path w="1010031" h="288416">
                  <a:moveTo>
                    <a:pt x="3810" y="280796"/>
                  </a:moveTo>
                  <a:lnTo>
                    <a:pt x="1006221" y="280796"/>
                  </a:lnTo>
                  <a:lnTo>
                    <a:pt x="1006221" y="284606"/>
                  </a:lnTo>
                  <a:lnTo>
                    <a:pt x="1002411" y="284606"/>
                  </a:lnTo>
                  <a:lnTo>
                    <a:pt x="1002411" y="3810"/>
                  </a:lnTo>
                  <a:lnTo>
                    <a:pt x="1006221" y="3810"/>
                  </a:lnTo>
                  <a:lnTo>
                    <a:pt x="1006221" y="7620"/>
                  </a:lnTo>
                  <a:lnTo>
                    <a:pt x="3810" y="7620"/>
                  </a:lnTo>
                  <a:lnTo>
                    <a:pt x="3810" y="3810"/>
                  </a:lnTo>
                  <a:lnTo>
                    <a:pt x="7620" y="3810"/>
                  </a:lnTo>
                  <a:lnTo>
                    <a:pt x="7620" y="284606"/>
                  </a:lnTo>
                  <a:lnTo>
                    <a:pt x="3810" y="284606"/>
                  </a:lnTo>
                  <a:lnTo>
                    <a:pt x="3810" y="280796"/>
                  </a:lnTo>
                  <a:moveTo>
                    <a:pt x="3810" y="288416"/>
                  </a:moveTo>
                  <a:lnTo>
                    <a:pt x="0" y="288416"/>
                  </a:lnTo>
                  <a:lnTo>
                    <a:pt x="0" y="284606"/>
                  </a:lnTo>
                  <a:lnTo>
                    <a:pt x="0" y="3810"/>
                  </a:lnTo>
                  <a:lnTo>
                    <a:pt x="0" y="0"/>
                  </a:lnTo>
                  <a:lnTo>
                    <a:pt x="3810" y="0"/>
                  </a:lnTo>
                  <a:lnTo>
                    <a:pt x="1006221" y="0"/>
                  </a:lnTo>
                  <a:lnTo>
                    <a:pt x="1010031" y="0"/>
                  </a:lnTo>
                  <a:lnTo>
                    <a:pt x="1010031" y="3810"/>
                  </a:lnTo>
                  <a:lnTo>
                    <a:pt x="1010031" y="284606"/>
                  </a:lnTo>
                  <a:lnTo>
                    <a:pt x="1010031" y="288416"/>
                  </a:lnTo>
                  <a:lnTo>
                    <a:pt x="1006221" y="288416"/>
                  </a:lnTo>
                  <a:lnTo>
                    <a:pt x="3810" y="288416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966496" y="2990974"/>
              <a:ext cx="1823405" cy="6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8"/>
                </a:lnSpc>
              </a:pP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Assign</a:t>
              </a:r>
              <a:r>
                <a:rPr lang="en-US" sz="2211" spc="-28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sample domain</a:t>
              </a:r>
              <a:r>
                <a:rPr lang="en-US" sz="2211" spc="-28" dirty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r>
                <a:rPr lang="en-US" sz="2211" spc="-28" dirty="0">
                  <a:solidFill>
                    <a:srgbClr val="1E1F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labels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6715574" y="9816854"/>
            <a:ext cx="886626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232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9/29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9150E92-EC3A-4CA3-320E-D5F5CA5FDFA1}"/>
              </a:ext>
            </a:extLst>
          </p:cNvPr>
          <p:cNvGrpSpPr/>
          <p:nvPr/>
        </p:nvGrpSpPr>
        <p:grpSpPr>
          <a:xfrm>
            <a:off x="734842" y="5780947"/>
            <a:ext cx="16798590" cy="1712597"/>
            <a:chOff x="734842" y="5780947"/>
            <a:chExt cx="16798590" cy="1712597"/>
          </a:xfrm>
        </p:grpSpPr>
        <p:grpSp>
          <p:nvGrpSpPr>
            <p:cNvPr id="7" name="Group 7"/>
            <p:cNvGrpSpPr/>
            <p:nvPr/>
          </p:nvGrpSpPr>
          <p:grpSpPr>
            <a:xfrm>
              <a:off x="734842" y="5780947"/>
              <a:ext cx="16798590" cy="1712597"/>
              <a:chOff x="0" y="0"/>
              <a:chExt cx="5296598" cy="53997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500" y="63500"/>
                <a:ext cx="5169535" cy="197358"/>
              </a:xfrm>
              <a:custGeom>
                <a:avLst/>
                <a:gdLst/>
                <a:ahLst/>
                <a:cxnLst/>
                <a:rect l="l" t="t" r="r" b="b"/>
                <a:pathLst>
                  <a:path w="5169535" h="197358">
                    <a:moveTo>
                      <a:pt x="0" y="197358"/>
                    </a:moveTo>
                    <a:lnTo>
                      <a:pt x="5169535" y="197358"/>
                    </a:lnTo>
                    <a:lnTo>
                      <a:pt x="51695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6F7"/>
              </a:solidFill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43256" y="181864"/>
                <a:ext cx="69596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69596" h="8890">
                    <a:moveTo>
                      <a:pt x="0" y="0"/>
                    </a:moveTo>
                    <a:lnTo>
                      <a:pt x="69596" y="0"/>
                    </a:lnTo>
                    <a:lnTo>
                      <a:pt x="69596" y="8890"/>
                    </a:lnTo>
                    <a:lnTo>
                      <a:pt x="0" y="8890"/>
                    </a:lnTo>
                    <a:close/>
                  </a:path>
                </a:pathLst>
              </a:custGeom>
              <a:solidFill>
                <a:srgbClr val="006D77"/>
              </a:solidFill>
            </p:spPr>
            <p:txBody>
              <a:bodyPr/>
              <a:lstStyle/>
              <a:p>
                <a:endParaRPr lang="ru-KZ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63500" y="258318"/>
                <a:ext cx="5169535" cy="218186"/>
              </a:xfrm>
              <a:custGeom>
                <a:avLst/>
                <a:gdLst/>
                <a:ahLst/>
                <a:cxnLst/>
                <a:rect l="l" t="t" r="r" b="b"/>
                <a:pathLst>
                  <a:path w="5169535" h="218186">
                    <a:moveTo>
                      <a:pt x="0" y="218186"/>
                    </a:moveTo>
                    <a:lnTo>
                      <a:pt x="5169535" y="218186"/>
                    </a:lnTo>
                    <a:lnTo>
                      <a:pt x="51695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6F7"/>
              </a:solidFill>
            </p:spPr>
            <p:txBody>
              <a:bodyPr/>
              <a:lstStyle/>
              <a:p>
                <a:endParaRPr lang="ru-KZ"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570281" y="5959741"/>
              <a:ext cx="1210548" cy="501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1"/>
                </a:lnSpc>
              </a:pPr>
              <a:r>
                <a:rPr lang="en-US" sz="2843" b="1" spc="45">
                  <a:solidFill>
                    <a:srgbClr val="1E1F21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Output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93043" y="6615283"/>
              <a:ext cx="13595646" cy="480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1"/>
                </a:lnSpc>
              </a:pP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A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categorical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geological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domain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model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and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a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probabilistic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map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of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domain</a:t>
              </a:r>
              <a:r>
                <a:rPr lang="en-US" sz="2843" spc="28" dirty="0">
                  <a:solidFill>
                    <a:srgbClr val="000000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 </a:t>
              </a:r>
              <a:r>
                <a:rPr lang="en-US" sz="2843" spc="28" dirty="0">
                  <a:solidFill>
                    <a:srgbClr val="1E1F21"/>
                  </a:solidFill>
                  <a:latin typeface="IBM Plex Sans Condensed" panose="020B0506050203000203" pitchFamily="34" charset="0"/>
                  <a:ea typeface="IBM Plex Sans Condensed"/>
                  <a:cs typeface="IBM Plex Sans Condensed"/>
                  <a:sym typeface="IBM Plex Sans Condensed"/>
                </a:rPr>
                <a:t>uncertainty.</a:t>
              </a:r>
            </a:p>
          </p:txBody>
        </p:sp>
      </p:grpSp>
      <p:sp>
        <p:nvSpPr>
          <p:cNvPr id="61" name="TextBox 24">
            <a:extLst>
              <a:ext uri="{FF2B5EF4-FFF2-40B4-BE49-F238E27FC236}">
                <a16:creationId xmlns:a16="http://schemas.microsoft.com/office/drawing/2014/main" id="{137B211D-1400-968F-64EE-2560223D1C30}"/>
              </a:ext>
            </a:extLst>
          </p:cNvPr>
          <p:cNvSpPr txBox="1"/>
          <p:nvPr/>
        </p:nvSpPr>
        <p:spPr>
          <a:xfrm>
            <a:off x="14821967" y="32307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59849FF-BAA2-8AA2-0251-5ECF10CF36CA}"/>
              </a:ext>
            </a:extLst>
          </p:cNvPr>
          <p:cNvGrpSpPr/>
          <p:nvPr/>
        </p:nvGrpSpPr>
        <p:grpSpPr>
          <a:xfrm>
            <a:off x="4841563" y="3275301"/>
            <a:ext cx="612645" cy="129699"/>
            <a:chOff x="8736307" y="3275301"/>
            <a:chExt cx="612645" cy="129699"/>
          </a:xfrm>
        </p:grpSpPr>
        <p:sp>
          <p:nvSpPr>
            <p:cNvPr id="69" name="Freeform 35">
              <a:extLst>
                <a:ext uri="{FF2B5EF4-FFF2-40B4-BE49-F238E27FC236}">
                  <a16:creationId xmlns:a16="http://schemas.microsoft.com/office/drawing/2014/main" id="{FA9F0214-4301-56B6-3FE2-7312B63D0C8F}"/>
                </a:ext>
              </a:extLst>
            </p:cNvPr>
            <p:cNvSpPr/>
            <p:nvPr/>
          </p:nvSpPr>
          <p:spPr>
            <a:xfrm>
              <a:off x="8736307" y="3328470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0" y="0"/>
                  </a:moveTo>
                  <a:lnTo>
                    <a:pt x="140462" y="0"/>
                  </a:lnTo>
                  <a:lnTo>
                    <a:pt x="14046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0" name="Freeform 36">
              <a:extLst>
                <a:ext uri="{FF2B5EF4-FFF2-40B4-BE49-F238E27FC236}">
                  <a16:creationId xmlns:a16="http://schemas.microsoft.com/office/drawing/2014/main" id="{4216723E-8456-9EED-B96B-AE5CB968B675}"/>
                </a:ext>
              </a:extLst>
            </p:cNvPr>
            <p:cNvSpPr/>
            <p:nvPr/>
          </p:nvSpPr>
          <p:spPr>
            <a:xfrm>
              <a:off x="9181794" y="3275301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52705" y="20447"/>
                  </a:moveTo>
                  <a:cubicBezTo>
                    <a:pt x="46228" y="18796"/>
                    <a:pt x="17780" y="9779"/>
                    <a:pt x="0" y="0"/>
                  </a:cubicBezTo>
                  <a:lnTo>
                    <a:pt x="0" y="40894"/>
                  </a:lnTo>
                  <a:cubicBezTo>
                    <a:pt x="17780" y="31115"/>
                    <a:pt x="46228" y="22098"/>
                    <a:pt x="52705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CD7DF3A-C215-8B2F-D03C-FF9EB86DC597}"/>
              </a:ext>
            </a:extLst>
          </p:cNvPr>
          <p:cNvGrpSpPr/>
          <p:nvPr/>
        </p:nvGrpSpPr>
        <p:grpSpPr>
          <a:xfrm rot="5400000">
            <a:off x="14571875" y="4030544"/>
            <a:ext cx="612645" cy="129699"/>
            <a:chOff x="8736307" y="3275301"/>
            <a:chExt cx="612645" cy="129699"/>
          </a:xfrm>
        </p:grpSpPr>
        <p:sp>
          <p:nvSpPr>
            <p:cNvPr id="72" name="Freeform 35">
              <a:extLst>
                <a:ext uri="{FF2B5EF4-FFF2-40B4-BE49-F238E27FC236}">
                  <a16:creationId xmlns:a16="http://schemas.microsoft.com/office/drawing/2014/main" id="{A121AAF0-5665-CC7D-2910-9113BC0E5AF0}"/>
                </a:ext>
              </a:extLst>
            </p:cNvPr>
            <p:cNvSpPr/>
            <p:nvPr/>
          </p:nvSpPr>
          <p:spPr>
            <a:xfrm>
              <a:off x="8736307" y="3328470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0" y="0"/>
                  </a:moveTo>
                  <a:lnTo>
                    <a:pt x="140462" y="0"/>
                  </a:lnTo>
                  <a:lnTo>
                    <a:pt x="14046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84B4AE51-5C87-3351-5927-F1EA75944B8A}"/>
                </a:ext>
              </a:extLst>
            </p:cNvPr>
            <p:cNvSpPr/>
            <p:nvPr/>
          </p:nvSpPr>
          <p:spPr>
            <a:xfrm>
              <a:off x="9181794" y="3275301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52705" y="20447"/>
                  </a:moveTo>
                  <a:cubicBezTo>
                    <a:pt x="46228" y="18796"/>
                    <a:pt x="17780" y="9779"/>
                    <a:pt x="0" y="0"/>
                  </a:cubicBezTo>
                  <a:lnTo>
                    <a:pt x="0" y="40894"/>
                  </a:lnTo>
                  <a:cubicBezTo>
                    <a:pt x="17780" y="31115"/>
                    <a:pt x="46228" y="22098"/>
                    <a:pt x="52705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0DF6A48-BF77-5E04-CB19-E8A626B138E6}"/>
              </a:ext>
            </a:extLst>
          </p:cNvPr>
          <p:cNvGrpSpPr/>
          <p:nvPr/>
        </p:nvGrpSpPr>
        <p:grpSpPr>
          <a:xfrm>
            <a:off x="4930075" y="4805987"/>
            <a:ext cx="612645" cy="129699"/>
            <a:chOff x="8785850" y="4817987"/>
            <a:chExt cx="612645" cy="129699"/>
          </a:xfrm>
        </p:grpSpPr>
        <p:sp>
          <p:nvSpPr>
            <p:cNvPr id="78" name="Freeform 47">
              <a:extLst>
                <a:ext uri="{FF2B5EF4-FFF2-40B4-BE49-F238E27FC236}">
                  <a16:creationId xmlns:a16="http://schemas.microsoft.com/office/drawing/2014/main" id="{DBB43C0C-3928-9CC0-DB31-A788880FFE7A}"/>
                </a:ext>
              </a:extLst>
            </p:cNvPr>
            <p:cNvSpPr/>
            <p:nvPr/>
          </p:nvSpPr>
          <p:spPr>
            <a:xfrm>
              <a:off x="8953008" y="4870753"/>
              <a:ext cx="445487" cy="24167"/>
            </a:xfrm>
            <a:custGeom>
              <a:avLst/>
              <a:gdLst/>
              <a:ahLst/>
              <a:cxnLst/>
              <a:rect l="l" t="t" r="r" b="b"/>
              <a:pathLst>
                <a:path w="140462" h="7620">
                  <a:moveTo>
                    <a:pt x="140462" y="7619"/>
                  </a:moveTo>
                  <a:lnTo>
                    <a:pt x="0" y="7619"/>
                  </a:lnTo>
                  <a:lnTo>
                    <a:pt x="0" y="0"/>
                  </a:lnTo>
                  <a:lnTo>
                    <a:pt x="140462" y="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9" name="Freeform 48">
              <a:extLst>
                <a:ext uri="{FF2B5EF4-FFF2-40B4-BE49-F238E27FC236}">
                  <a16:creationId xmlns:a16="http://schemas.microsoft.com/office/drawing/2014/main" id="{A82FC2C4-C719-4021-A4D7-501F8A1F0E00}"/>
                </a:ext>
              </a:extLst>
            </p:cNvPr>
            <p:cNvSpPr/>
            <p:nvPr/>
          </p:nvSpPr>
          <p:spPr>
            <a:xfrm>
              <a:off x="8785850" y="4817987"/>
              <a:ext cx="167158" cy="129699"/>
            </a:xfrm>
            <a:custGeom>
              <a:avLst/>
              <a:gdLst/>
              <a:ahLst/>
              <a:cxnLst/>
              <a:rect l="l" t="t" r="r" b="b"/>
              <a:pathLst>
                <a:path w="52705" h="40894">
                  <a:moveTo>
                    <a:pt x="0" y="20447"/>
                  </a:moveTo>
                  <a:cubicBezTo>
                    <a:pt x="6477" y="22097"/>
                    <a:pt x="34925" y="31114"/>
                    <a:pt x="52705" y="40893"/>
                  </a:cubicBezTo>
                  <a:lnTo>
                    <a:pt x="52705" y="0"/>
                  </a:lnTo>
                  <a:cubicBezTo>
                    <a:pt x="34925" y="9778"/>
                    <a:pt x="6477" y="18795"/>
                    <a:pt x="0" y="20447"/>
                  </a:cubicBez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6"/>
                  </a:lnTo>
                  <a:lnTo>
                    <a:pt x="5759958" y="4446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0"/>
                  </a:moveTo>
                  <a:lnTo>
                    <a:pt x="0" y="151514"/>
                  </a:lnTo>
                  <a:lnTo>
                    <a:pt x="5759958" y="151514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90"/>
            <a:ext cx="16395809" cy="1172001"/>
            <a:chOff x="0" y="0"/>
            <a:chExt cx="5169599" cy="3695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369570"/>
            </a:xfrm>
            <a:custGeom>
              <a:avLst/>
              <a:gdLst/>
              <a:ahLst/>
              <a:cxnLst/>
              <a:rect l="l" t="t" r="r" b="b"/>
              <a:pathLst>
                <a:path w="5169535" h="369570">
                  <a:moveTo>
                    <a:pt x="0" y="369570"/>
                  </a:moveTo>
                  <a:lnTo>
                    <a:pt x="5169535" y="36957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742262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88470" y="3621705"/>
            <a:ext cx="7944962" cy="4240694"/>
            <a:chOff x="0" y="0"/>
            <a:chExt cx="2505050" cy="1337094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2378075" cy="197358"/>
            </a:xfrm>
            <a:custGeom>
              <a:avLst/>
              <a:gdLst/>
              <a:ahLst/>
              <a:cxnLst/>
              <a:rect l="l" t="t" r="r" b="b"/>
              <a:pathLst>
                <a:path w="2378075" h="197358">
                  <a:moveTo>
                    <a:pt x="0" y="197358"/>
                  </a:moveTo>
                  <a:lnTo>
                    <a:pt x="2378075" y="197358"/>
                  </a:lnTo>
                  <a:lnTo>
                    <a:pt x="23780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258318"/>
              <a:ext cx="2378075" cy="1015238"/>
            </a:xfrm>
            <a:custGeom>
              <a:avLst/>
              <a:gdLst/>
              <a:ahLst/>
              <a:cxnLst/>
              <a:rect l="l" t="t" r="r" b="b"/>
              <a:pathLst>
                <a:path w="2378075" h="1015238">
                  <a:moveTo>
                    <a:pt x="0" y="1015238"/>
                  </a:moveTo>
                  <a:lnTo>
                    <a:pt x="2378075" y="1015238"/>
                  </a:lnTo>
                  <a:lnTo>
                    <a:pt x="23780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26429" y="-17210"/>
            <a:ext cx="15563995" cy="76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1: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Variable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Selection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and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Distribution</a:t>
            </a:r>
            <a:r>
              <a:rPr lang="en-US" sz="4550" b="1" spc="-18" dirty="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 dirty="0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Unmixing</a:t>
            </a:r>
            <a:endParaRPr lang="en-US" sz="4550" b="1" spc="-18" dirty="0">
              <a:solidFill>
                <a:srgbClr val="1E1F21"/>
              </a:solidFill>
              <a:latin typeface="IBM Plex Sans Bold"/>
              <a:ea typeface="IBM Plex Sans Bold"/>
              <a:cs typeface="IBM Plex Sans Bold"/>
              <a:sym typeface="IBM Plex Sans Bold"/>
              <a:hlinkClick r:id="rId2" action="ppaction://hlinksldjump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6431" y="9818266"/>
            <a:ext cx="10357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9767" y="380555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5350" y="4440980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2993" y="511268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6191" y="3652912"/>
            <a:ext cx="7748964" cy="189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Variables selected via geological knowledge &amp; EDA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Single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 populations 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&gt; log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normal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Global distribution 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mixture of two domains.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3909" y="3800529"/>
            <a:ext cx="2488010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Binary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mixture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4DB070-9EC9-41CB-8413-B96DEC19F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4663321"/>
            <a:ext cx="5172354" cy="107994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677180-5D1B-DA96-EAB1-4E7ADD777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6229242"/>
            <a:ext cx="5972318" cy="680391"/>
          </a:xfrm>
          <a:prstGeom prst="rect">
            <a:avLst/>
          </a:prstGeom>
        </p:spPr>
      </p:pic>
      <p:sp>
        <p:nvSpPr>
          <p:cNvPr id="27" name="TextBox 24">
            <a:extLst>
              <a:ext uri="{FF2B5EF4-FFF2-40B4-BE49-F238E27FC236}">
                <a16:creationId xmlns:a16="http://schemas.microsoft.com/office/drawing/2014/main" id="{D238E4B9-77C4-20DA-4929-6D3B59A3CC6A}"/>
              </a:ext>
            </a:extLst>
          </p:cNvPr>
          <p:cNvSpPr txBox="1"/>
          <p:nvPr/>
        </p:nvSpPr>
        <p:spPr>
          <a:xfrm>
            <a:off x="14249400" y="879874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6"/>
                  </a:lnTo>
                  <a:lnTo>
                    <a:pt x="5759958" y="4446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0"/>
                  </a:moveTo>
                  <a:lnTo>
                    <a:pt x="0" y="151514"/>
                  </a:lnTo>
                  <a:lnTo>
                    <a:pt x="5759958" y="151514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24614" y="3638381"/>
            <a:ext cx="8108817" cy="2190919"/>
            <a:chOff x="0" y="0"/>
            <a:chExt cx="2556713" cy="935380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2429764" cy="197358"/>
            </a:xfrm>
            <a:custGeom>
              <a:avLst/>
              <a:gdLst/>
              <a:ahLst/>
              <a:cxnLst/>
              <a:rect l="l" t="t" r="r" b="b"/>
              <a:pathLst>
                <a:path w="2429764" h="197358">
                  <a:moveTo>
                    <a:pt x="0" y="197358"/>
                  </a:moveTo>
                  <a:lnTo>
                    <a:pt x="2429764" y="197358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258318"/>
              <a:ext cx="2429764" cy="613537"/>
            </a:xfrm>
            <a:custGeom>
              <a:avLst/>
              <a:gdLst/>
              <a:ahLst/>
              <a:cxnLst/>
              <a:rect l="l" t="t" r="r" b="b"/>
              <a:pathLst>
                <a:path w="2429764" h="613537">
                  <a:moveTo>
                    <a:pt x="0" y="613537"/>
                  </a:moveTo>
                  <a:lnTo>
                    <a:pt x="2429764" y="613537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36247" y="-17210"/>
            <a:ext cx="10377658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2: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Assign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Samples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6431" y="9818266"/>
            <a:ext cx="10357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785" y="444630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035" y="5143500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5035" y="380813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5142" y="3682578"/>
            <a:ext cx="7888858" cy="189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Random initial assignment at optimized proportion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Greedy swaps 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&gt; better match to target distributions</a:t>
            </a:r>
          </a:p>
          <a:p>
            <a:pPr algn="l">
              <a:lnSpc>
                <a:spcPct val="150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Final labels = SVC training classes.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59078" y="4520372"/>
            <a:ext cx="7180847" cy="8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5"/>
              </a:lnSpc>
            </a:pP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Each sample is assigned using multivariate behavior </a:t>
            </a:r>
            <a:r>
              <a:rPr lang="ru-RU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not a single threshold.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60053" y="3817205"/>
            <a:ext cx="2318052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Interpretation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2CB1D14C-F24B-DD1F-AFF4-0EA1869551BF}"/>
              </a:ext>
            </a:extLst>
          </p:cNvPr>
          <p:cNvSpPr txBox="1"/>
          <p:nvPr/>
        </p:nvSpPr>
        <p:spPr>
          <a:xfrm>
            <a:off x="14821967" y="32307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32700" y="2679990"/>
            <a:ext cx="8508970" cy="4888956"/>
            <a:chOff x="0" y="0"/>
            <a:chExt cx="2682875" cy="154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82875" cy="1541526"/>
            </a:xfrm>
            <a:custGeom>
              <a:avLst/>
              <a:gdLst/>
              <a:ahLst/>
              <a:cxnLst/>
              <a:rect l="l" t="t" r="r" b="b"/>
              <a:pathLst>
                <a:path w="2682875" h="1541526">
                  <a:moveTo>
                    <a:pt x="0" y="1541526"/>
                  </a:moveTo>
                  <a:lnTo>
                    <a:pt x="2682875" y="1541526"/>
                  </a:lnTo>
                  <a:lnTo>
                    <a:pt x="26828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72818" y="2720078"/>
            <a:ext cx="8428734" cy="4808690"/>
            <a:chOff x="0" y="0"/>
            <a:chExt cx="3543440" cy="20215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43427" cy="2021586"/>
            </a:xfrm>
            <a:custGeom>
              <a:avLst/>
              <a:gdLst/>
              <a:ahLst/>
              <a:cxnLst/>
              <a:rect l="l" t="t" r="r" b="b"/>
              <a:pathLst>
                <a:path w="3543427" h="2021586">
                  <a:moveTo>
                    <a:pt x="0" y="0"/>
                  </a:moveTo>
                  <a:lnTo>
                    <a:pt x="3543427" y="0"/>
                  </a:lnTo>
                  <a:lnTo>
                    <a:pt x="3543427" y="2021586"/>
                  </a:lnTo>
                  <a:lnTo>
                    <a:pt x="0" y="2021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375" y="9587292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17247" y="2464537"/>
            <a:ext cx="8939876" cy="5319862"/>
            <a:chOff x="0" y="0"/>
            <a:chExt cx="2818752" cy="1677352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2691771" cy="4445"/>
            </a:xfrm>
            <a:custGeom>
              <a:avLst/>
              <a:gdLst/>
              <a:ahLst/>
              <a:cxnLst/>
              <a:rect l="l" t="t" r="r" b="b"/>
              <a:pathLst>
                <a:path w="2691771" h="4445">
                  <a:moveTo>
                    <a:pt x="0" y="0"/>
                  </a:moveTo>
                  <a:lnTo>
                    <a:pt x="2691771" y="0"/>
                  </a:lnTo>
                  <a:lnTo>
                    <a:pt x="2691771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545971"/>
            </a:xfrm>
            <a:custGeom>
              <a:avLst/>
              <a:gdLst/>
              <a:ahLst/>
              <a:cxnLst/>
              <a:rect l="l" t="t" r="r" b="b"/>
              <a:pathLst>
                <a:path w="4445" h="1545971">
                  <a:moveTo>
                    <a:pt x="0" y="1545971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545971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750826" y="65659"/>
              <a:ext cx="4445" cy="1545971"/>
            </a:xfrm>
            <a:custGeom>
              <a:avLst/>
              <a:gdLst/>
              <a:ahLst/>
              <a:cxnLst/>
              <a:rect l="l" t="t" r="r" b="b"/>
              <a:pathLst>
                <a:path w="4445" h="1545971">
                  <a:moveTo>
                    <a:pt x="0" y="1545971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545971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609471"/>
              <a:ext cx="2691771" cy="4445"/>
            </a:xfrm>
            <a:custGeom>
              <a:avLst/>
              <a:gdLst/>
              <a:ahLst/>
              <a:cxnLst/>
              <a:rect l="l" t="t" r="r" b="b"/>
              <a:pathLst>
                <a:path w="2691771" h="4445">
                  <a:moveTo>
                    <a:pt x="0" y="0"/>
                  </a:moveTo>
                  <a:lnTo>
                    <a:pt x="2691771" y="0"/>
                  </a:lnTo>
                  <a:lnTo>
                    <a:pt x="2691771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3824300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3: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Ensemble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Support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Vector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Classification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431" y="9788689"/>
            <a:ext cx="945471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588818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401" y="380150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7401" y="484484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7401" y="275819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6614" y="2696424"/>
            <a:ext cx="6614634" cy="407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SVC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learns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spatial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boundary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between labelled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RBF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kernel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allows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curved,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geologically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plausible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contacts.</a:t>
            </a:r>
          </a:p>
          <a:p>
            <a:pPr algn="l">
              <a:lnSpc>
                <a:spcPts val="7109"/>
              </a:lnSpc>
            </a:pP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Models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repeated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over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subsets</a:t>
            </a:r>
            <a:r>
              <a:rPr lang="en-US" sz="2843" spc="31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1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samples.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Averaging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creates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probability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before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categorization.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28777" y="7818539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351837B9-928F-4EF8-CCC4-8052A7E3DEDF}"/>
              </a:ext>
            </a:extLst>
          </p:cNvPr>
          <p:cNvSpPr txBox="1"/>
          <p:nvPr/>
        </p:nvSpPr>
        <p:spPr>
          <a:xfrm>
            <a:off x="14821967" y="32307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4">
            <a:extLst>
              <a:ext uri="{FF2B5EF4-FFF2-40B4-BE49-F238E27FC236}">
                <a16:creationId xmlns:a16="http://schemas.microsoft.com/office/drawing/2014/main" id="{E82F3B7D-E4D4-9F54-C393-1C5670E6F2C4}"/>
              </a:ext>
            </a:extLst>
          </p:cNvPr>
          <p:cNvSpPr/>
          <p:nvPr/>
        </p:nvSpPr>
        <p:spPr>
          <a:xfrm>
            <a:off x="936237" y="4562957"/>
            <a:ext cx="7869740" cy="3219904"/>
          </a:xfrm>
          <a:custGeom>
            <a:avLst/>
            <a:gdLst/>
            <a:ahLst/>
            <a:cxnLst/>
            <a:rect l="l" t="t" r="r" b="b"/>
            <a:pathLst>
              <a:path w="2378075" h="1015238">
                <a:moveTo>
                  <a:pt x="0" y="1015238"/>
                </a:moveTo>
                <a:lnTo>
                  <a:pt x="2378075" y="1015238"/>
                </a:lnTo>
                <a:lnTo>
                  <a:pt x="2378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/>
          </a:p>
        </p:txBody>
      </p:sp>
      <p:grpSp>
        <p:nvGrpSpPr>
          <p:cNvPr id="2" name="Group 2"/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8"/>
                  </a:lnTo>
                  <a:lnTo>
                    <a:pt x="5759958" y="151508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449726"/>
            <a:chOff x="0" y="0"/>
            <a:chExt cx="5169599" cy="141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41732"/>
            </a:xfrm>
            <a:custGeom>
              <a:avLst/>
              <a:gdLst/>
              <a:ahLst/>
              <a:cxnLst/>
              <a:rect l="l" t="t" r="r" b="b"/>
              <a:pathLst>
                <a:path w="5169535" h="141732">
                  <a:moveTo>
                    <a:pt x="0" y="141732"/>
                  </a:moveTo>
                  <a:lnTo>
                    <a:pt x="5169535" y="141732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6239" y="3937020"/>
            <a:ext cx="7869740" cy="625937"/>
            <a:chOff x="63500" y="63500"/>
            <a:chExt cx="2481326" cy="197358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2481326" cy="197358"/>
            </a:xfrm>
            <a:custGeom>
              <a:avLst/>
              <a:gdLst/>
              <a:ahLst/>
              <a:cxnLst/>
              <a:rect l="l" t="t" r="r" b="b"/>
              <a:pathLst>
                <a:path w="2481326" h="197358">
                  <a:moveTo>
                    <a:pt x="0" y="197358"/>
                  </a:moveTo>
                  <a:lnTo>
                    <a:pt x="2481326" y="197358"/>
                  </a:lnTo>
                  <a:lnTo>
                    <a:pt x="24813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36247" y="-17210"/>
            <a:ext cx="5813754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Performance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Metric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66431" y="9816880"/>
            <a:ext cx="9595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13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0281" y="3914449"/>
            <a:ext cx="312313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Balanced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accuracy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E6C348-3F70-655F-12F0-9E8461778565}"/>
              </a:ext>
            </a:extLst>
          </p:cNvPr>
          <p:cNvGrpSpPr/>
          <p:nvPr/>
        </p:nvGrpSpPr>
        <p:grpSpPr>
          <a:xfrm>
            <a:off x="9649130" y="3828633"/>
            <a:ext cx="255843" cy="2052307"/>
            <a:chOff x="9649130" y="3828633"/>
            <a:chExt cx="255843" cy="2052307"/>
          </a:xfrm>
        </p:grpSpPr>
        <p:sp>
          <p:nvSpPr>
            <p:cNvPr id="30" name="TextBox 30"/>
            <p:cNvSpPr txBox="1"/>
            <p:nvPr/>
          </p:nvSpPr>
          <p:spPr>
            <a:xfrm>
              <a:off x="9649130" y="3828633"/>
              <a:ext cx="255843" cy="407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96"/>
                </a:lnSpc>
              </a:pPr>
              <a:r>
                <a:rPr lang="en-US" sz="2211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49130" y="4710078"/>
              <a:ext cx="255843" cy="1170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739"/>
                </a:lnSpc>
              </a:pPr>
              <a:r>
                <a:rPr lang="en-US" sz="2211" spc="645" dirty="0">
                  <a:solidFill>
                    <a:srgbClr val="006D7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▶ ▶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100578" y="3766891"/>
            <a:ext cx="7076806" cy="254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Useful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when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sample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counts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not equal.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Penalizes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poor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prediction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either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class.</a:t>
            </a:r>
          </a:p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validation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individual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SVC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models 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final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models.</a:t>
            </a:r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07D4BD30-FFAF-0C05-7C51-10C91A7AD5E6}"/>
              </a:ext>
            </a:extLst>
          </p:cNvPr>
          <p:cNvSpPr txBox="1"/>
          <p:nvPr/>
        </p:nvSpPr>
        <p:spPr>
          <a:xfrm>
            <a:off x="14821967" y="323075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Proposed Approach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F215C6-20C6-3BDF-5DC6-DE4CABCD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922" y="5251293"/>
            <a:ext cx="6827031" cy="1170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25265" y="2393243"/>
            <a:ext cx="9303989" cy="5605793"/>
            <a:chOff x="0" y="0"/>
            <a:chExt cx="2933548" cy="1767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33573" cy="1767459"/>
            </a:xfrm>
            <a:custGeom>
              <a:avLst/>
              <a:gdLst/>
              <a:ahLst/>
              <a:cxnLst/>
              <a:rect l="l" t="t" r="r" b="b"/>
              <a:pathLst>
                <a:path w="2933573" h="1767459">
                  <a:moveTo>
                    <a:pt x="0" y="1767459"/>
                  </a:moveTo>
                  <a:lnTo>
                    <a:pt x="2933573" y="1767459"/>
                  </a:lnTo>
                  <a:lnTo>
                    <a:pt x="29335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965383" y="2433452"/>
            <a:ext cx="9223571" cy="5525436"/>
            <a:chOff x="0" y="0"/>
            <a:chExt cx="3877589" cy="23228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77564" cy="2322957"/>
            </a:xfrm>
            <a:custGeom>
              <a:avLst/>
              <a:gdLst/>
              <a:ahLst/>
              <a:cxnLst/>
              <a:rect l="l" t="t" r="r" b="b"/>
              <a:pathLst>
                <a:path w="3877564" h="2322957">
                  <a:moveTo>
                    <a:pt x="0" y="0"/>
                  </a:moveTo>
                  <a:lnTo>
                    <a:pt x="3877564" y="0"/>
                  </a:lnTo>
                  <a:lnTo>
                    <a:pt x="3877564" y="2322957"/>
                  </a:lnTo>
                  <a:lnTo>
                    <a:pt x="0" y="2322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09812" y="2177820"/>
            <a:ext cx="9734894" cy="6036669"/>
            <a:chOff x="0" y="0"/>
            <a:chExt cx="3069412" cy="1903362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2942463" cy="4445"/>
            </a:xfrm>
            <a:custGeom>
              <a:avLst/>
              <a:gdLst/>
              <a:ahLst/>
              <a:cxnLst/>
              <a:rect l="l" t="t" r="r" b="b"/>
              <a:pathLst>
                <a:path w="2942463" h="4445">
                  <a:moveTo>
                    <a:pt x="0" y="0"/>
                  </a:moveTo>
                  <a:lnTo>
                    <a:pt x="2942463" y="0"/>
                  </a:lnTo>
                  <a:lnTo>
                    <a:pt x="294246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772031"/>
            </a:xfrm>
            <a:custGeom>
              <a:avLst/>
              <a:gdLst/>
              <a:ahLst/>
              <a:cxnLst/>
              <a:rect l="l" t="t" r="r" b="b"/>
              <a:pathLst>
                <a:path w="4445" h="1772031">
                  <a:moveTo>
                    <a:pt x="0" y="1772031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772031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001518" y="65659"/>
              <a:ext cx="4445" cy="1772031"/>
            </a:xfrm>
            <a:custGeom>
              <a:avLst/>
              <a:gdLst/>
              <a:ahLst/>
              <a:cxnLst/>
              <a:rect l="l" t="t" r="r" b="b"/>
              <a:pathLst>
                <a:path w="4445" h="1772031">
                  <a:moveTo>
                    <a:pt x="0" y="1772031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772031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835404"/>
              <a:ext cx="2942463" cy="4445"/>
            </a:xfrm>
            <a:custGeom>
              <a:avLst/>
              <a:gdLst/>
              <a:ahLst/>
              <a:cxnLst/>
              <a:rect l="l" t="t" r="r" b="b"/>
              <a:pathLst>
                <a:path w="2942463" h="4445">
                  <a:moveTo>
                    <a:pt x="0" y="0"/>
                  </a:moveTo>
                  <a:lnTo>
                    <a:pt x="2942463" y="0"/>
                  </a:lnTo>
                  <a:lnTo>
                    <a:pt x="294246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1317833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Case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Study: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Porphyry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Copper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Deposit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250" y="9818266"/>
            <a:ext cx="1035950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14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2309524"/>
            <a:ext cx="255843" cy="177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3332" y="4819738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6614" y="2285852"/>
            <a:ext cx="5658629" cy="327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Approximately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21,000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composites. Composite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length: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15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include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concentrations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logging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information.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Logging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comparison,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not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training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workflow.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18867" y="8248659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7D1C46C2-189C-7E6C-AEA3-479A5BD4218B}"/>
              </a:ext>
            </a:extLst>
          </p:cNvPr>
          <p:cNvSpPr txBox="1"/>
          <p:nvPr/>
        </p:nvSpPr>
        <p:spPr>
          <a:xfrm>
            <a:off x="15544800" y="365376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449726"/>
            <a:chOff x="0" y="0"/>
            <a:chExt cx="5169599" cy="1417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41732"/>
            </a:xfrm>
            <a:custGeom>
              <a:avLst/>
              <a:gdLst/>
              <a:ahLst/>
              <a:cxnLst/>
              <a:rect l="l" t="t" r="r" b="b"/>
              <a:pathLst>
                <a:path w="5169535" h="141732">
                  <a:moveTo>
                    <a:pt x="0" y="141732"/>
                  </a:moveTo>
                  <a:lnTo>
                    <a:pt x="5169535" y="141732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58862" y="2140603"/>
            <a:ext cx="9397366" cy="6237380"/>
            <a:chOff x="0" y="0"/>
            <a:chExt cx="2962986" cy="19666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63037" cy="1966595"/>
            </a:xfrm>
            <a:custGeom>
              <a:avLst/>
              <a:gdLst/>
              <a:ahLst/>
              <a:cxnLst/>
              <a:rect l="l" t="t" r="r" b="b"/>
              <a:pathLst>
                <a:path w="2963037" h="1966595">
                  <a:moveTo>
                    <a:pt x="0" y="1966595"/>
                  </a:moveTo>
                  <a:lnTo>
                    <a:pt x="2963037" y="1966595"/>
                  </a:lnTo>
                  <a:lnTo>
                    <a:pt x="29630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98980" y="2180690"/>
            <a:ext cx="9317220" cy="6157204"/>
            <a:chOff x="0" y="0"/>
            <a:chExt cx="3916959" cy="25884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16934" cy="2588514"/>
            </a:xfrm>
            <a:custGeom>
              <a:avLst/>
              <a:gdLst/>
              <a:ahLst/>
              <a:cxnLst/>
              <a:rect l="l" t="t" r="r" b="b"/>
              <a:pathLst>
                <a:path w="3916934" h="2588514">
                  <a:moveTo>
                    <a:pt x="0" y="0"/>
                  </a:moveTo>
                  <a:lnTo>
                    <a:pt x="3916934" y="0"/>
                  </a:lnTo>
                  <a:lnTo>
                    <a:pt x="3916934" y="2588514"/>
                  </a:lnTo>
                  <a:lnTo>
                    <a:pt x="0" y="2588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13" name="Freeform 1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4"/>
                  </a:lnTo>
                  <a:lnTo>
                    <a:pt x="0" y="4444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3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151508"/>
                  </a:moveTo>
                  <a:lnTo>
                    <a:pt x="5759958" y="151508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43409" y="1925180"/>
            <a:ext cx="9828271" cy="6668255"/>
            <a:chOff x="0" y="0"/>
            <a:chExt cx="3098864" cy="2102498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2971806" cy="4445"/>
            </a:xfrm>
            <a:custGeom>
              <a:avLst/>
              <a:gdLst/>
              <a:ahLst/>
              <a:cxnLst/>
              <a:rect l="l" t="t" r="r" b="b"/>
              <a:pathLst>
                <a:path w="2971806" h="4445">
                  <a:moveTo>
                    <a:pt x="0" y="0"/>
                  </a:moveTo>
                  <a:lnTo>
                    <a:pt x="2971806" y="0"/>
                  </a:lnTo>
                  <a:lnTo>
                    <a:pt x="2971806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971167"/>
            </a:xfrm>
            <a:custGeom>
              <a:avLst/>
              <a:gdLst/>
              <a:ahLst/>
              <a:cxnLst/>
              <a:rect l="l" t="t" r="r" b="b"/>
              <a:pathLst>
                <a:path w="4445" h="1971167">
                  <a:moveTo>
                    <a:pt x="0" y="1971167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97104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030988" y="65659"/>
              <a:ext cx="4318" cy="1971167"/>
            </a:xfrm>
            <a:custGeom>
              <a:avLst/>
              <a:gdLst/>
              <a:ahLst/>
              <a:cxnLst/>
              <a:rect l="l" t="t" r="r" b="b"/>
              <a:pathLst>
                <a:path w="4318" h="1971167">
                  <a:moveTo>
                    <a:pt x="0" y="1971167"/>
                  </a:moveTo>
                  <a:lnTo>
                    <a:pt x="0" y="0"/>
                  </a:lnTo>
                  <a:lnTo>
                    <a:pt x="4318" y="0"/>
                  </a:lnTo>
                  <a:lnTo>
                    <a:pt x="4318" y="197104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2034540"/>
              <a:ext cx="2971806" cy="4445"/>
            </a:xfrm>
            <a:custGeom>
              <a:avLst/>
              <a:gdLst/>
              <a:ahLst/>
              <a:cxnLst/>
              <a:rect l="l" t="t" r="r" b="b"/>
              <a:pathLst>
                <a:path w="2971806" h="4445">
                  <a:moveTo>
                    <a:pt x="0" y="0"/>
                  </a:moveTo>
                  <a:lnTo>
                    <a:pt x="2971806" y="0"/>
                  </a:lnTo>
                  <a:lnTo>
                    <a:pt x="2971806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6014284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First-Level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Variables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250" y="9846462"/>
            <a:ext cx="1035950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15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2109411"/>
            <a:ext cx="4368087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34" dirty="0">
                <a:solidFill>
                  <a:srgbClr val="006D77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50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available</a:t>
            </a:r>
            <a:r>
              <a:rPr lang="en-US" sz="2843" spc="34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34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38849" y="2550830"/>
            <a:ext cx="1478505" cy="993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elements.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7401" y="3152781"/>
            <a:ext cx="4326126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Six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selected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38849" y="3594200"/>
            <a:ext cx="2130362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first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7401" y="4196120"/>
            <a:ext cx="2744457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Goal: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separate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38849" y="4685164"/>
            <a:ext cx="4198492" cy="134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chlorite-sericite/potassic from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quartz-sericite/argillic groups.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6247" y="6377101"/>
            <a:ext cx="4051916" cy="977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843" b="1" spc="28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Selected: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Zn,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Pb,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Y,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Ga, Mn/K,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Mg/Al.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99137" y="8627605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E78772C-80EA-729F-B748-ADCD8D51C400}"/>
              </a:ext>
            </a:extLst>
          </p:cNvPr>
          <p:cNvSpPr txBox="1"/>
          <p:nvPr/>
        </p:nvSpPr>
        <p:spPr>
          <a:xfrm>
            <a:off x="15544800" y="365376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86910" y="1964875"/>
            <a:ext cx="12094515" cy="5660110"/>
            <a:chOff x="0" y="0"/>
            <a:chExt cx="3813404" cy="17846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3429" cy="1784604"/>
            </a:xfrm>
            <a:custGeom>
              <a:avLst/>
              <a:gdLst/>
              <a:ahLst/>
              <a:cxnLst/>
              <a:rect l="l" t="t" r="r" b="b"/>
              <a:pathLst>
                <a:path w="3813429" h="1784604">
                  <a:moveTo>
                    <a:pt x="0" y="1784604"/>
                  </a:moveTo>
                  <a:lnTo>
                    <a:pt x="3813429" y="1784604"/>
                  </a:lnTo>
                  <a:lnTo>
                    <a:pt x="38134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27028" y="2005083"/>
            <a:ext cx="12014127" cy="5579783"/>
            <a:chOff x="0" y="0"/>
            <a:chExt cx="5050739" cy="23457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50790" cy="2345690"/>
            </a:xfrm>
            <a:custGeom>
              <a:avLst/>
              <a:gdLst/>
              <a:ahLst/>
              <a:cxnLst/>
              <a:rect l="l" t="t" r="r" b="b"/>
              <a:pathLst>
                <a:path w="5050790" h="2345690">
                  <a:moveTo>
                    <a:pt x="0" y="0"/>
                  </a:moveTo>
                  <a:lnTo>
                    <a:pt x="5050790" y="0"/>
                  </a:lnTo>
                  <a:lnTo>
                    <a:pt x="5050790" y="2345690"/>
                  </a:lnTo>
                  <a:lnTo>
                    <a:pt x="0" y="2345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-2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71426" y="1749452"/>
            <a:ext cx="12525420" cy="6091015"/>
            <a:chOff x="0" y="0"/>
            <a:chExt cx="3949268" cy="1920494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3822319" cy="4445"/>
            </a:xfrm>
            <a:custGeom>
              <a:avLst/>
              <a:gdLst/>
              <a:ahLst/>
              <a:cxnLst/>
              <a:rect l="l" t="t" r="r" b="b"/>
              <a:pathLst>
                <a:path w="3822319" h="4445">
                  <a:moveTo>
                    <a:pt x="0" y="0"/>
                  </a:moveTo>
                  <a:lnTo>
                    <a:pt x="3822319" y="0"/>
                  </a:lnTo>
                  <a:lnTo>
                    <a:pt x="3822319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789176"/>
            </a:xfrm>
            <a:custGeom>
              <a:avLst/>
              <a:gdLst/>
              <a:ahLst/>
              <a:cxnLst/>
              <a:rect l="l" t="t" r="r" b="b"/>
              <a:pathLst>
                <a:path w="4445" h="1789176">
                  <a:moveTo>
                    <a:pt x="0" y="1789176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78917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881374" y="65659"/>
              <a:ext cx="4445" cy="1789176"/>
            </a:xfrm>
            <a:custGeom>
              <a:avLst/>
              <a:gdLst/>
              <a:ahLst/>
              <a:cxnLst/>
              <a:rect l="l" t="t" r="r" b="b"/>
              <a:pathLst>
                <a:path w="4445" h="1789176">
                  <a:moveTo>
                    <a:pt x="0" y="1789176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78917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852549"/>
              <a:ext cx="3822319" cy="4445"/>
            </a:xfrm>
            <a:custGeom>
              <a:avLst/>
              <a:gdLst/>
              <a:ahLst/>
              <a:cxnLst/>
              <a:rect l="l" t="t" r="r" b="b"/>
              <a:pathLst>
                <a:path w="3822319" h="4445">
                  <a:moveTo>
                    <a:pt x="0" y="0"/>
                  </a:moveTo>
                  <a:lnTo>
                    <a:pt x="3822319" y="0"/>
                  </a:lnTo>
                  <a:lnTo>
                    <a:pt x="3822319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3084232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Logging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Compared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with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Assignment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250" y="9818266"/>
            <a:ext cx="1089523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16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8299" y="7970631"/>
            <a:ext cx="16767474" cy="68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9"/>
              </a:lnSpc>
            </a:pP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 err="1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  <a:p>
            <a:pPr algn="ctr">
              <a:lnSpc>
                <a:spcPts val="1421"/>
              </a:lnSpc>
            </a:pPr>
            <a:endParaRPr lang="ru-RU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1421"/>
              </a:lnSpc>
            </a:pPr>
            <a:endParaRPr lang="ru-RU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unsupervised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assignment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reproduces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broad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without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directly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logging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labels.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34D2952A-6A1F-D1CE-89B7-86DA32E1D630}"/>
              </a:ext>
            </a:extLst>
          </p:cNvPr>
          <p:cNvSpPr txBox="1"/>
          <p:nvPr/>
        </p:nvSpPr>
        <p:spPr>
          <a:xfrm>
            <a:off x="15544800" y="365376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82219" y="2063690"/>
            <a:ext cx="10022638" cy="6429753"/>
            <a:chOff x="0" y="0"/>
            <a:chExt cx="3160141" cy="20273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60141" cy="2027301"/>
            </a:xfrm>
            <a:custGeom>
              <a:avLst/>
              <a:gdLst/>
              <a:ahLst/>
              <a:cxnLst/>
              <a:rect l="l" t="t" r="r" b="b"/>
              <a:pathLst>
                <a:path w="3160141" h="2027301">
                  <a:moveTo>
                    <a:pt x="0" y="2027301"/>
                  </a:moveTo>
                  <a:lnTo>
                    <a:pt x="3160141" y="2027301"/>
                  </a:lnTo>
                  <a:lnTo>
                    <a:pt x="31601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2367" y="2103475"/>
            <a:ext cx="9942855" cy="6349789"/>
            <a:chOff x="0" y="0"/>
            <a:chExt cx="4179976" cy="26694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79951" cy="2669413"/>
            </a:xfrm>
            <a:custGeom>
              <a:avLst/>
              <a:gdLst/>
              <a:ahLst/>
              <a:cxnLst/>
              <a:rect l="l" t="t" r="r" b="b"/>
              <a:pathLst>
                <a:path w="4179951" h="2669413">
                  <a:moveTo>
                    <a:pt x="0" y="0"/>
                  </a:moveTo>
                  <a:lnTo>
                    <a:pt x="4179951" y="0"/>
                  </a:lnTo>
                  <a:lnTo>
                    <a:pt x="4179951" y="2669413"/>
                  </a:lnTo>
                  <a:lnTo>
                    <a:pt x="0" y="2669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375" y="9587261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66766" y="1848206"/>
            <a:ext cx="10453574" cy="6860658"/>
            <a:chOff x="0" y="0"/>
            <a:chExt cx="3296006" cy="2163166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3169025" cy="4445"/>
            </a:xfrm>
            <a:custGeom>
              <a:avLst/>
              <a:gdLst/>
              <a:ahLst/>
              <a:cxnLst/>
              <a:rect l="l" t="t" r="r" b="b"/>
              <a:pathLst>
                <a:path w="3169025" h="4445">
                  <a:moveTo>
                    <a:pt x="0" y="0"/>
                  </a:moveTo>
                  <a:lnTo>
                    <a:pt x="3169025" y="0"/>
                  </a:lnTo>
                  <a:lnTo>
                    <a:pt x="316902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2031746"/>
            </a:xfrm>
            <a:custGeom>
              <a:avLst/>
              <a:gdLst/>
              <a:ahLst/>
              <a:cxnLst/>
              <a:rect l="l" t="t" r="r" b="b"/>
              <a:pathLst>
                <a:path w="4445" h="2031746">
                  <a:moveTo>
                    <a:pt x="0" y="2031746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20317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228080" y="65659"/>
              <a:ext cx="4445" cy="2031746"/>
            </a:xfrm>
            <a:custGeom>
              <a:avLst/>
              <a:gdLst/>
              <a:ahLst/>
              <a:cxnLst/>
              <a:rect l="l" t="t" r="r" b="b"/>
              <a:pathLst>
                <a:path w="4445" h="2031746">
                  <a:moveTo>
                    <a:pt x="0" y="2031746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20317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2095246"/>
              <a:ext cx="3169025" cy="4445"/>
            </a:xfrm>
            <a:custGeom>
              <a:avLst/>
              <a:gdLst/>
              <a:ahLst/>
              <a:cxnLst/>
              <a:rect l="l" t="t" r="r" b="b"/>
              <a:pathLst>
                <a:path w="3169025" h="4445">
                  <a:moveTo>
                    <a:pt x="0" y="0"/>
                  </a:moveTo>
                  <a:lnTo>
                    <a:pt x="3169025" y="0"/>
                  </a:lnTo>
                  <a:lnTo>
                    <a:pt x="316902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0995771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Optimization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Sample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Assignment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250" y="9816854"/>
            <a:ext cx="1035950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17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362659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0995" y="522286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7401" y="214183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6191" y="2080063"/>
            <a:ext cx="3876883" cy="450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optimized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mixture fits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global distribution.</a:t>
            </a:r>
          </a:p>
          <a:p>
            <a:pPr algn="just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assigned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samples</a:t>
            </a:r>
          </a:p>
          <a:p>
            <a:pPr algn="just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approximate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ru-RU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1421"/>
              </a:lnSpc>
            </a:pPr>
            <a:endParaRPr lang="ru-RU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just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two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target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distributions.</a:t>
            </a:r>
          </a:p>
          <a:p>
            <a:pPr algn="just">
              <a:lnSpc>
                <a:spcPts val="3949"/>
              </a:lnSpc>
            </a:pPr>
            <a:endParaRPr lang="ru-RU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just">
              <a:lnSpc>
                <a:spcPts val="394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Departures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indicate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local</a:t>
            </a:r>
          </a:p>
          <a:p>
            <a:pPr algn="just">
              <a:lnSpc>
                <a:spcPts val="3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complexity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possible</a:t>
            </a:r>
          </a:p>
          <a:p>
            <a:pPr algn="just">
              <a:lnSpc>
                <a:spcPts val="394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sub-populations.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35131" y="8743035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23C80C30-F7CF-449D-076F-D9D30FB45A5E}"/>
              </a:ext>
            </a:extLst>
          </p:cNvPr>
          <p:cNvSpPr txBox="1"/>
          <p:nvPr/>
        </p:nvSpPr>
        <p:spPr>
          <a:xfrm>
            <a:off x="15544800" y="365376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Case Study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4743" y="2153895"/>
            <a:ext cx="8380943" cy="4325764"/>
            <a:chOff x="0" y="0"/>
            <a:chExt cx="2642502" cy="1363916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2515483" cy="4445"/>
            </a:xfrm>
            <a:custGeom>
              <a:avLst/>
              <a:gdLst/>
              <a:ahLst/>
              <a:cxnLst/>
              <a:rect l="l" t="t" r="r" b="b"/>
              <a:pathLst>
                <a:path w="2515483" h="4445">
                  <a:moveTo>
                    <a:pt x="0" y="0"/>
                  </a:moveTo>
                  <a:lnTo>
                    <a:pt x="2515483" y="0"/>
                  </a:lnTo>
                  <a:lnTo>
                    <a:pt x="251548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5659"/>
              <a:ext cx="4445" cy="1232535"/>
            </a:xfrm>
            <a:custGeom>
              <a:avLst/>
              <a:gdLst/>
              <a:ahLst/>
              <a:cxnLst/>
              <a:rect l="l" t="t" r="r" b="b"/>
              <a:pathLst>
                <a:path w="4445" h="1232535">
                  <a:moveTo>
                    <a:pt x="0" y="1232535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23253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574538" y="65659"/>
              <a:ext cx="4445" cy="1232535"/>
            </a:xfrm>
            <a:custGeom>
              <a:avLst/>
              <a:gdLst/>
              <a:ahLst/>
              <a:cxnLst/>
              <a:rect l="l" t="t" r="r" b="b"/>
              <a:pathLst>
                <a:path w="4445" h="1232535">
                  <a:moveTo>
                    <a:pt x="0" y="1232535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23253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296035"/>
              <a:ext cx="2515483" cy="4445"/>
            </a:xfrm>
            <a:custGeom>
              <a:avLst/>
              <a:gdLst/>
              <a:ahLst/>
              <a:cxnLst/>
              <a:rect l="l" t="t" r="r" b="b"/>
              <a:pathLst>
                <a:path w="2515483" h="4445">
                  <a:moveTo>
                    <a:pt x="0" y="0"/>
                  </a:moveTo>
                  <a:lnTo>
                    <a:pt x="2515483" y="0"/>
                  </a:lnTo>
                  <a:lnTo>
                    <a:pt x="251548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8" name="Freeform 18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24614" y="2354545"/>
            <a:ext cx="8108817" cy="3566362"/>
            <a:chOff x="0" y="0"/>
            <a:chExt cx="2556713" cy="1124471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2429764" cy="175260"/>
            </a:xfrm>
            <a:custGeom>
              <a:avLst/>
              <a:gdLst/>
              <a:ahLst/>
              <a:cxnLst/>
              <a:rect l="l" t="t" r="r" b="b"/>
              <a:pathLst>
                <a:path w="2429764" h="175260">
                  <a:moveTo>
                    <a:pt x="0" y="175260"/>
                  </a:moveTo>
                  <a:lnTo>
                    <a:pt x="2429764" y="175260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500" y="236220"/>
              <a:ext cx="2429764" cy="824738"/>
            </a:xfrm>
            <a:custGeom>
              <a:avLst/>
              <a:gdLst/>
              <a:ahLst/>
              <a:cxnLst/>
              <a:rect l="l" t="t" r="r" b="b"/>
              <a:pathLst>
                <a:path w="2429764" h="824738">
                  <a:moveTo>
                    <a:pt x="0" y="824738"/>
                  </a:moveTo>
                  <a:lnTo>
                    <a:pt x="2429764" y="824738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07518" y="296926"/>
              <a:ext cx="2041017" cy="707898"/>
            </a:xfrm>
            <a:custGeom>
              <a:avLst/>
              <a:gdLst/>
              <a:ahLst/>
              <a:cxnLst/>
              <a:rect l="l" t="t" r="r" b="b"/>
              <a:pathLst>
                <a:path w="2041017" h="707898">
                  <a:moveTo>
                    <a:pt x="0" y="707898"/>
                  </a:moveTo>
                  <a:lnTo>
                    <a:pt x="2041017" y="707898"/>
                  </a:lnTo>
                  <a:lnTo>
                    <a:pt x="2041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F7F6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36247" y="-17210"/>
            <a:ext cx="7296821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Binary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Ensemble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Results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66431" y="9802756"/>
            <a:ext cx="10357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18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76807" y="6513828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60053" y="2533339"/>
            <a:ext cx="105225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Result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17504" y="3200267"/>
            <a:ext cx="5928368" cy="221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25"/>
              </a:lnSpc>
            </a:pPr>
            <a:r>
              <a:rPr lang="en-US" sz="8531" b="1" spc="136" dirty="0">
                <a:solidFill>
                  <a:srgbClr val="8A153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91.3%</a:t>
            </a:r>
          </a:p>
          <a:p>
            <a:pPr algn="ctr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balanced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accuracy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final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 model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15964" y="5913055"/>
            <a:ext cx="7009621" cy="266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Individual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were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around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90.5%.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produced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smooth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boundary.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Thresholding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followed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optimized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proportion.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77143" y="774388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77143" y="5936727"/>
            <a:ext cx="255843" cy="1170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DC2BC797-ED9C-6895-4D55-C7756DA15D95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1C9C573-EF91-382F-F9F0-C8206B3F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08" y="2704452"/>
            <a:ext cx="7854043" cy="3200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79390" y="2882030"/>
            <a:ext cx="9939985" cy="4383856"/>
            <a:chOff x="0" y="0"/>
            <a:chExt cx="3134081" cy="1382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34106" cy="1382268"/>
            </a:xfrm>
            <a:custGeom>
              <a:avLst/>
              <a:gdLst/>
              <a:ahLst/>
              <a:cxnLst/>
              <a:rect l="l" t="t" r="r" b="b"/>
              <a:pathLst>
                <a:path w="3134106" h="1382268">
                  <a:moveTo>
                    <a:pt x="0" y="1382268"/>
                  </a:moveTo>
                  <a:lnTo>
                    <a:pt x="3134106" y="1382268"/>
                  </a:lnTo>
                  <a:lnTo>
                    <a:pt x="31341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9508" y="2922118"/>
            <a:ext cx="9859780" cy="4303620"/>
            <a:chOff x="0" y="0"/>
            <a:chExt cx="4145051" cy="1809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45026" cy="1809242"/>
            </a:xfrm>
            <a:custGeom>
              <a:avLst/>
              <a:gdLst/>
              <a:ahLst/>
              <a:cxnLst/>
              <a:rect l="l" t="t" r="r" b="b"/>
              <a:pathLst>
                <a:path w="4145026" h="1809242">
                  <a:moveTo>
                    <a:pt x="0" y="0"/>
                  </a:moveTo>
                  <a:lnTo>
                    <a:pt x="4145026" y="0"/>
                  </a:lnTo>
                  <a:lnTo>
                    <a:pt x="4145026" y="1809242"/>
                  </a:lnTo>
                  <a:lnTo>
                    <a:pt x="0" y="1809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13" name="Freeform 1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4"/>
                  </a:lnTo>
                  <a:lnTo>
                    <a:pt x="0" y="4444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3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151508"/>
                  </a:moveTo>
                  <a:lnTo>
                    <a:pt x="5759958" y="151508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63937" y="2666547"/>
            <a:ext cx="10370891" cy="4814762"/>
            <a:chOff x="0" y="0"/>
            <a:chExt cx="3269933" cy="1518094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3142990" cy="4445"/>
            </a:xfrm>
            <a:custGeom>
              <a:avLst/>
              <a:gdLst/>
              <a:ahLst/>
              <a:cxnLst/>
              <a:rect l="l" t="t" r="r" b="b"/>
              <a:pathLst>
                <a:path w="3142990" h="4445">
                  <a:moveTo>
                    <a:pt x="0" y="0"/>
                  </a:moveTo>
                  <a:lnTo>
                    <a:pt x="3142990" y="0"/>
                  </a:lnTo>
                  <a:lnTo>
                    <a:pt x="3142990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386713"/>
            </a:xfrm>
            <a:custGeom>
              <a:avLst/>
              <a:gdLst/>
              <a:ahLst/>
              <a:cxnLst/>
              <a:rect l="l" t="t" r="r" b="b"/>
              <a:pathLst>
                <a:path w="4445" h="1386713">
                  <a:moveTo>
                    <a:pt x="0" y="1386713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386713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202045" y="65659"/>
              <a:ext cx="4445" cy="1386713"/>
            </a:xfrm>
            <a:custGeom>
              <a:avLst/>
              <a:gdLst/>
              <a:ahLst/>
              <a:cxnLst/>
              <a:rect l="l" t="t" r="r" b="b"/>
              <a:pathLst>
                <a:path w="4445" h="1386713">
                  <a:moveTo>
                    <a:pt x="0" y="1386713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386713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450213"/>
              <a:ext cx="3142990" cy="4445"/>
            </a:xfrm>
            <a:custGeom>
              <a:avLst/>
              <a:gdLst/>
              <a:ahLst/>
              <a:cxnLst/>
              <a:rect l="l" t="t" r="r" b="b"/>
              <a:pathLst>
                <a:path w="3142990" h="4445">
                  <a:moveTo>
                    <a:pt x="0" y="0"/>
                  </a:moveTo>
                  <a:lnTo>
                    <a:pt x="3142990" y="0"/>
                  </a:lnTo>
                  <a:lnTo>
                    <a:pt x="3142990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169345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Hierarchical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Extension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Four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Domains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431" y="9816853"/>
            <a:ext cx="10357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19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011" y="398591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7780" y="530534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8012" y="2883558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779" y="638335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13894" y="2898464"/>
            <a:ext cx="5768879" cy="4292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workflow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repeated inside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first-level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1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into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chlorite-sericite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potassic groups.</a:t>
            </a:r>
          </a:p>
          <a:p>
            <a:pPr algn="l">
              <a:lnSpc>
                <a:spcPts val="3949"/>
              </a:lnSpc>
            </a:pPr>
            <a:endParaRPr lang="en-US" sz="2843" spc="28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394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2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into</a:t>
            </a:r>
          </a:p>
          <a:p>
            <a:pPr algn="l">
              <a:lnSpc>
                <a:spcPts val="300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quartz-sericite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argillic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groups.</a:t>
            </a:r>
          </a:p>
          <a:p>
            <a:pPr algn="l">
              <a:lnSpc>
                <a:spcPts val="6478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Final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output: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four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categorical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90975" y="7515479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45FDE38E-DF55-11D6-AF8A-D8E9B08653FA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4842" y="2125921"/>
            <a:ext cx="5321584" cy="3431417"/>
            <a:chOff x="0" y="0"/>
            <a:chExt cx="1677899" cy="1081926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550924" cy="197358"/>
            </a:xfrm>
            <a:custGeom>
              <a:avLst/>
              <a:gdLst/>
              <a:ahLst/>
              <a:cxnLst/>
              <a:rect l="l" t="t" r="r" b="b"/>
              <a:pathLst>
                <a:path w="1550924" h="197358">
                  <a:moveTo>
                    <a:pt x="0" y="197358"/>
                  </a:moveTo>
                  <a:lnTo>
                    <a:pt x="1550924" y="197358"/>
                  </a:lnTo>
                  <a:lnTo>
                    <a:pt x="155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0" y="258318"/>
              <a:ext cx="1550924" cy="229489"/>
            </a:xfrm>
            <a:custGeom>
              <a:avLst/>
              <a:gdLst/>
              <a:ahLst/>
              <a:cxnLst/>
              <a:rect l="l" t="t" r="r" b="b"/>
              <a:pathLst>
                <a:path w="1550924" h="229489">
                  <a:moveTo>
                    <a:pt x="0" y="229489"/>
                  </a:moveTo>
                  <a:lnTo>
                    <a:pt x="1550924" y="229489"/>
                  </a:lnTo>
                  <a:lnTo>
                    <a:pt x="155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594106"/>
              <a:ext cx="1550924" cy="197358"/>
            </a:xfrm>
            <a:custGeom>
              <a:avLst/>
              <a:gdLst/>
              <a:ahLst/>
              <a:cxnLst/>
              <a:rect l="l" t="t" r="r" b="b"/>
              <a:pathLst>
                <a:path w="1550924" h="197358">
                  <a:moveTo>
                    <a:pt x="0" y="197359"/>
                  </a:moveTo>
                  <a:lnTo>
                    <a:pt x="1550924" y="197359"/>
                  </a:lnTo>
                  <a:lnTo>
                    <a:pt x="155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7" name="Freeform 7"/>
            <p:cNvSpPr/>
            <p:nvPr/>
          </p:nvSpPr>
          <p:spPr>
            <a:xfrm>
              <a:off x="143256" y="71234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788925"/>
              <a:ext cx="1550924" cy="229489"/>
            </a:xfrm>
            <a:custGeom>
              <a:avLst/>
              <a:gdLst/>
              <a:ahLst/>
              <a:cxnLst/>
              <a:rect l="l" t="t" r="r" b="b"/>
              <a:pathLst>
                <a:path w="1550924" h="229489">
                  <a:moveTo>
                    <a:pt x="0" y="229489"/>
                  </a:moveTo>
                  <a:lnTo>
                    <a:pt x="1550924" y="229489"/>
                  </a:lnTo>
                  <a:lnTo>
                    <a:pt x="155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5280" y="2140693"/>
            <a:ext cx="9764530" cy="6237168"/>
            <a:chOff x="0" y="0"/>
            <a:chExt cx="3078759" cy="19665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78734" cy="1966595"/>
            </a:xfrm>
            <a:custGeom>
              <a:avLst/>
              <a:gdLst/>
              <a:ahLst/>
              <a:cxnLst/>
              <a:rect l="l" t="t" r="r" b="b"/>
              <a:pathLst>
                <a:path w="3078734" h="1966595">
                  <a:moveTo>
                    <a:pt x="0" y="1966595"/>
                  </a:moveTo>
                  <a:lnTo>
                    <a:pt x="3078734" y="1966595"/>
                  </a:lnTo>
                  <a:lnTo>
                    <a:pt x="30787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15398" y="2180630"/>
            <a:ext cx="9684596" cy="6157083"/>
            <a:chOff x="0" y="0"/>
            <a:chExt cx="4071404" cy="2588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71366" cy="2588387"/>
            </a:xfrm>
            <a:custGeom>
              <a:avLst/>
              <a:gdLst/>
              <a:ahLst/>
              <a:cxnLst/>
              <a:rect l="l" t="t" r="r" b="b"/>
              <a:pathLst>
                <a:path w="4071366" h="2588387">
                  <a:moveTo>
                    <a:pt x="0" y="0"/>
                  </a:moveTo>
                  <a:lnTo>
                    <a:pt x="4071366" y="0"/>
                  </a:lnTo>
                  <a:lnTo>
                    <a:pt x="4071366" y="2588387"/>
                  </a:lnTo>
                  <a:lnTo>
                    <a:pt x="0" y="258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20" name="Freeform 20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59797" y="1925270"/>
            <a:ext cx="10195466" cy="6668044"/>
            <a:chOff x="0" y="0"/>
            <a:chExt cx="3214624" cy="2102434"/>
          </a:xfrm>
        </p:grpSpPr>
        <p:sp>
          <p:nvSpPr>
            <p:cNvPr id="23" name="Freeform 23"/>
            <p:cNvSpPr/>
            <p:nvPr/>
          </p:nvSpPr>
          <p:spPr>
            <a:xfrm>
              <a:off x="63500" y="63500"/>
              <a:ext cx="3087618" cy="4445"/>
            </a:xfrm>
            <a:custGeom>
              <a:avLst/>
              <a:gdLst/>
              <a:ahLst/>
              <a:cxnLst/>
              <a:rect l="l" t="t" r="r" b="b"/>
              <a:pathLst>
                <a:path w="3087618" h="4445">
                  <a:moveTo>
                    <a:pt x="0" y="0"/>
                  </a:moveTo>
                  <a:lnTo>
                    <a:pt x="3087618" y="0"/>
                  </a:lnTo>
                  <a:lnTo>
                    <a:pt x="3087618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3500" y="65659"/>
              <a:ext cx="4445" cy="1971040"/>
            </a:xfrm>
            <a:custGeom>
              <a:avLst/>
              <a:gdLst/>
              <a:ahLst/>
              <a:cxnLst/>
              <a:rect l="l" t="t" r="r" b="b"/>
              <a:pathLst>
                <a:path w="4445" h="1971040">
                  <a:moveTo>
                    <a:pt x="0" y="1971040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97104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146673" y="65659"/>
              <a:ext cx="4445" cy="1971040"/>
            </a:xfrm>
            <a:custGeom>
              <a:avLst/>
              <a:gdLst/>
              <a:ahLst/>
              <a:cxnLst/>
              <a:rect l="l" t="t" r="r" b="b"/>
              <a:pathLst>
                <a:path w="4445" h="1971040">
                  <a:moveTo>
                    <a:pt x="0" y="1971040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97104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3500" y="2034540"/>
              <a:ext cx="3087618" cy="4445"/>
            </a:xfrm>
            <a:custGeom>
              <a:avLst/>
              <a:gdLst/>
              <a:ahLst/>
              <a:cxnLst/>
              <a:rect l="l" t="t" r="r" b="b"/>
              <a:pathLst>
                <a:path w="3087618" h="4445">
                  <a:moveTo>
                    <a:pt x="0" y="0"/>
                  </a:moveTo>
                  <a:lnTo>
                    <a:pt x="3087618" y="0"/>
                  </a:lnTo>
                  <a:lnTo>
                    <a:pt x="3087618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36247" y="-17210"/>
            <a:ext cx="6656957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Second-Level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Variables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66431" y="9818266"/>
            <a:ext cx="9595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20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70281" y="2304684"/>
            <a:ext cx="248094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Domain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1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split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3043" y="4225680"/>
            <a:ext cx="2796870" cy="76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1"/>
              </a:lnSpc>
            </a:pPr>
            <a:r>
              <a:rPr lang="en-US" sz="2843" b="1" spc="28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Domain</a:t>
            </a:r>
            <a:r>
              <a:rPr lang="en-US" sz="2843" b="1" spc="28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28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2</a:t>
            </a:r>
            <a:r>
              <a:rPr lang="en-US" sz="2843" b="1" spc="28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28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split</a:t>
            </a:r>
          </a:p>
          <a:p>
            <a:pPr algn="ctr">
              <a:lnSpc>
                <a:spcPts val="1421"/>
              </a:lnSpc>
            </a:pPr>
            <a:endParaRPr lang="en-US" sz="2843" b="1" spc="28" dirty="0">
              <a:solidFill>
                <a:srgbClr val="1E1F21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ctr">
              <a:lnSpc>
                <a:spcPts val="1421"/>
              </a:lnSpc>
            </a:pPr>
            <a:endParaRPr lang="en-US" sz="2843" b="1" spc="28">
              <a:solidFill>
                <a:srgbClr val="1E1F21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  <a:p>
            <a:pPr algn="ctr">
              <a:lnSpc>
                <a:spcPts val="1421"/>
              </a:lnSpc>
            </a:pPr>
            <a:r>
              <a:rPr lang="en-US" sz="2843" b="1" spc="28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Zn,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Te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Mn/K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93043" y="2976147"/>
            <a:ext cx="2933748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Y,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Mg/Al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7401" y="5625716"/>
            <a:ext cx="4161455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choice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remains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8849" y="6067135"/>
            <a:ext cx="3981106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statistical.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7401" y="6669056"/>
            <a:ext cx="4601122" cy="47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006D77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▶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second-level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38849" y="7158099"/>
            <a:ext cx="3550834" cy="8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difficult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 first.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99137" y="8627484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829D69EE-4D3F-20F4-AE33-29DCA3B2691B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1978" y="2717808"/>
            <a:ext cx="8768426" cy="3736955"/>
            <a:chOff x="0" y="0"/>
            <a:chExt cx="2642476" cy="916343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2515489" cy="4445"/>
            </a:xfrm>
            <a:custGeom>
              <a:avLst/>
              <a:gdLst/>
              <a:ahLst/>
              <a:cxnLst/>
              <a:rect l="l" t="t" r="r" b="b"/>
              <a:pathLst>
                <a:path w="2515489" h="4445">
                  <a:moveTo>
                    <a:pt x="0" y="0"/>
                  </a:moveTo>
                  <a:lnTo>
                    <a:pt x="2515489" y="0"/>
                  </a:lnTo>
                  <a:lnTo>
                    <a:pt x="2515489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5659"/>
              <a:ext cx="4445" cy="784987"/>
            </a:xfrm>
            <a:custGeom>
              <a:avLst/>
              <a:gdLst/>
              <a:ahLst/>
              <a:cxnLst/>
              <a:rect l="l" t="t" r="r" b="b"/>
              <a:pathLst>
                <a:path w="4445" h="784987">
                  <a:moveTo>
                    <a:pt x="0" y="784987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78486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574544" y="65659"/>
              <a:ext cx="4445" cy="784987"/>
            </a:xfrm>
            <a:custGeom>
              <a:avLst/>
              <a:gdLst/>
              <a:ahLst/>
              <a:cxnLst/>
              <a:rect l="l" t="t" r="r" b="b"/>
              <a:pathLst>
                <a:path w="4445" h="784987">
                  <a:moveTo>
                    <a:pt x="0" y="784987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78486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848360"/>
              <a:ext cx="2515489" cy="4445"/>
            </a:xfrm>
            <a:custGeom>
              <a:avLst/>
              <a:gdLst/>
              <a:ahLst/>
              <a:cxnLst/>
              <a:rect l="l" t="t" r="r" b="b"/>
              <a:pathLst>
                <a:path w="2515489" h="4445">
                  <a:moveTo>
                    <a:pt x="0" y="0"/>
                  </a:moveTo>
                  <a:lnTo>
                    <a:pt x="2515489" y="0"/>
                  </a:lnTo>
                  <a:lnTo>
                    <a:pt x="2515489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8" name="Freeform 18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24614" y="2707662"/>
            <a:ext cx="8108817" cy="3195150"/>
            <a:chOff x="0" y="0"/>
            <a:chExt cx="2556713" cy="1007427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2429764" cy="175260"/>
            </a:xfrm>
            <a:custGeom>
              <a:avLst/>
              <a:gdLst/>
              <a:ahLst/>
              <a:cxnLst/>
              <a:rect l="l" t="t" r="r" b="b"/>
              <a:pathLst>
                <a:path w="2429764" h="175260">
                  <a:moveTo>
                    <a:pt x="0" y="175260"/>
                  </a:moveTo>
                  <a:lnTo>
                    <a:pt x="2429764" y="175260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500" y="236220"/>
              <a:ext cx="2429764" cy="707771"/>
            </a:xfrm>
            <a:custGeom>
              <a:avLst/>
              <a:gdLst/>
              <a:ahLst/>
              <a:cxnLst/>
              <a:rect l="l" t="t" r="r" b="b"/>
              <a:pathLst>
                <a:path w="2429764" h="707771">
                  <a:moveTo>
                    <a:pt x="0" y="707771"/>
                  </a:moveTo>
                  <a:lnTo>
                    <a:pt x="2429764" y="707771"/>
                  </a:lnTo>
                  <a:lnTo>
                    <a:pt x="2429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07518" y="296926"/>
              <a:ext cx="2041017" cy="590804"/>
            </a:xfrm>
            <a:custGeom>
              <a:avLst/>
              <a:gdLst/>
              <a:ahLst/>
              <a:cxnLst/>
              <a:rect l="l" t="t" r="r" b="b"/>
              <a:pathLst>
                <a:path w="2041017" h="590804">
                  <a:moveTo>
                    <a:pt x="0" y="590804"/>
                  </a:moveTo>
                  <a:lnTo>
                    <a:pt x="2041017" y="590804"/>
                  </a:lnTo>
                  <a:lnTo>
                    <a:pt x="2041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F7F6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36247" y="-17210"/>
            <a:ext cx="9749999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Four-Domain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Model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Performance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66431" y="9788658"/>
            <a:ext cx="9595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21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65514" y="6313925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 err="1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 dirty="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60053" y="2886486"/>
            <a:ext cx="4000107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Final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hierarchical</a:t>
            </a:r>
            <a:r>
              <a:rPr lang="en-US" sz="2843" b="1" spc="45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model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46747" y="3410509"/>
            <a:ext cx="5860216" cy="200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43"/>
              </a:lnSpc>
            </a:pPr>
            <a:r>
              <a:rPr lang="en-US" sz="8531" b="1" spc="136" dirty="0">
                <a:solidFill>
                  <a:srgbClr val="8A153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73.0%</a:t>
            </a:r>
          </a:p>
          <a:p>
            <a:pPr algn="ctr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balanced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accuracy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four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28591" y="5894990"/>
            <a:ext cx="6573096" cy="2112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Chlorite-sericite/potassic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72–81%. Quartz-sericite/argillic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split: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65–71%. Error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propagation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hierarchical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risk.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77143" y="5918632"/>
            <a:ext cx="255843" cy="177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DABC1314-DB68-3F3A-EE1F-83F6E8C4B406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630C7A-77D8-3AF7-E934-7E676C3A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03" y="3089629"/>
            <a:ext cx="7842914" cy="2999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0"/>
                  </a:moveTo>
                  <a:lnTo>
                    <a:pt x="0" y="151514"/>
                  </a:lnTo>
                  <a:lnTo>
                    <a:pt x="5759958" y="151514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8452" y="2805087"/>
            <a:ext cx="8751430" cy="32113"/>
            <a:chOff x="0" y="0"/>
            <a:chExt cx="2759329" cy="101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59329" cy="10160"/>
            </a:xfrm>
            <a:custGeom>
              <a:avLst/>
              <a:gdLst/>
              <a:ahLst/>
              <a:cxnLst/>
              <a:rect l="l" t="t" r="r" b="b"/>
              <a:pathLst>
                <a:path w="2759329" h="10160">
                  <a:moveTo>
                    <a:pt x="0" y="0"/>
                  </a:moveTo>
                  <a:lnTo>
                    <a:pt x="2759329" y="0"/>
                  </a:lnTo>
                  <a:lnTo>
                    <a:pt x="2759329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8452" y="3626297"/>
            <a:ext cx="8751430" cy="20059"/>
            <a:chOff x="0" y="0"/>
            <a:chExt cx="2759329" cy="63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59329" cy="6350"/>
            </a:xfrm>
            <a:custGeom>
              <a:avLst/>
              <a:gdLst/>
              <a:ahLst/>
              <a:cxnLst/>
              <a:rect l="l" t="t" r="r" b="b"/>
              <a:pathLst>
                <a:path w="2759329" h="6350">
                  <a:moveTo>
                    <a:pt x="0" y="0"/>
                  </a:moveTo>
                  <a:lnTo>
                    <a:pt x="2759329" y="0"/>
                  </a:lnTo>
                  <a:lnTo>
                    <a:pt x="2759329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8452" y="5037465"/>
            <a:ext cx="8751430" cy="32113"/>
            <a:chOff x="0" y="0"/>
            <a:chExt cx="2759329" cy="101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59329" cy="10160"/>
            </a:xfrm>
            <a:custGeom>
              <a:avLst/>
              <a:gdLst/>
              <a:ahLst/>
              <a:cxnLst/>
              <a:rect l="l" t="t" r="r" b="b"/>
              <a:pathLst>
                <a:path w="2759329" h="10160">
                  <a:moveTo>
                    <a:pt x="0" y="0"/>
                  </a:moveTo>
                  <a:lnTo>
                    <a:pt x="2759329" y="0"/>
                  </a:lnTo>
                  <a:lnTo>
                    <a:pt x="2759329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1E1F21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6247" y="-17210"/>
            <a:ext cx="8566821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Benchmark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Against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BlockSIS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66431" y="9818266"/>
            <a:ext cx="9595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22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99190" y="2703257"/>
            <a:ext cx="2497828" cy="2042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 Ensemble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SVC</a:t>
            </a:r>
          </a:p>
          <a:p>
            <a:pPr algn="l">
              <a:lnSpc>
                <a:spcPts val="3106"/>
              </a:lnSpc>
            </a:pPr>
            <a:r>
              <a:rPr lang="en-US" sz="3159" spc="-3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BlockSIS</a:t>
            </a:r>
            <a:endParaRPr lang="en-US" sz="3159" spc="-3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9827" y="2703257"/>
            <a:ext cx="2636519" cy="2042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3"/>
              </a:lnSpc>
            </a:pP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 91.3%</a:t>
            </a:r>
          </a:p>
          <a:p>
            <a:pPr algn="ctr">
              <a:lnSpc>
                <a:spcPts val="3106"/>
              </a:lnSpc>
            </a:pPr>
            <a:r>
              <a:rPr lang="en-US" sz="3159" spc="-3" dirty="0">
                <a:solidFill>
                  <a:srgbClr val="8A1538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92.5%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96194" y="2703257"/>
            <a:ext cx="2318173" cy="2042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3"/>
              </a:lnSpc>
            </a:pP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Four</a:t>
            </a:r>
            <a:r>
              <a:rPr lang="en-US" sz="3159" spc="-3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 </a:t>
            </a:r>
            <a:r>
              <a:rPr lang="en-US" sz="3159" spc="-3" dirty="0">
                <a:solidFill>
                  <a:srgbClr val="8A1538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73.0%</a:t>
            </a:r>
          </a:p>
          <a:p>
            <a:pPr algn="ctr">
              <a:lnSpc>
                <a:spcPts val="3106"/>
              </a:lnSpc>
            </a:pPr>
            <a:r>
              <a:rPr lang="en-US" sz="3159" spc="-3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69.4%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401" y="5561648"/>
            <a:ext cx="255843" cy="177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 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6191" y="5537976"/>
            <a:ext cx="13672710" cy="178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performance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was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comparable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between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methods.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SVC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outperformed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BlockSIS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four-domain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case.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paper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emphasizes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smoother,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continuous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boundaries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6247" y="7696795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73F4B319-165F-F732-DEAF-F4E6EF1E1151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1883" y="1928533"/>
            <a:ext cx="15164598" cy="5309500"/>
            <a:chOff x="0" y="0"/>
            <a:chExt cx="4781398" cy="16740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81423" cy="1674114"/>
            </a:xfrm>
            <a:custGeom>
              <a:avLst/>
              <a:gdLst/>
              <a:ahLst/>
              <a:cxnLst/>
              <a:rect l="l" t="t" r="r" b="b"/>
              <a:pathLst>
                <a:path w="4781423" h="1674114">
                  <a:moveTo>
                    <a:pt x="0" y="1674114"/>
                  </a:moveTo>
                  <a:lnTo>
                    <a:pt x="4781423" y="1674114"/>
                  </a:lnTo>
                  <a:lnTo>
                    <a:pt x="47814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92001" y="1968772"/>
            <a:ext cx="15084120" cy="5229174"/>
            <a:chOff x="0" y="0"/>
            <a:chExt cx="6341364" cy="21983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1364" cy="2198370"/>
            </a:xfrm>
            <a:custGeom>
              <a:avLst/>
              <a:gdLst/>
              <a:ahLst/>
              <a:cxnLst/>
              <a:rect l="l" t="t" r="r" b="b"/>
              <a:pathLst>
                <a:path w="6341364" h="2198370">
                  <a:moveTo>
                    <a:pt x="0" y="0"/>
                  </a:moveTo>
                  <a:lnTo>
                    <a:pt x="6341364" y="0"/>
                  </a:lnTo>
                  <a:lnTo>
                    <a:pt x="6341364" y="2198370"/>
                  </a:lnTo>
                  <a:lnTo>
                    <a:pt x="0" y="2198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6400" y="1713110"/>
            <a:ext cx="15595503" cy="5740376"/>
            <a:chOff x="0" y="0"/>
            <a:chExt cx="4917262" cy="1809940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4790313" cy="4445"/>
            </a:xfrm>
            <a:custGeom>
              <a:avLst/>
              <a:gdLst/>
              <a:ahLst/>
              <a:cxnLst/>
              <a:rect l="l" t="t" r="r" b="b"/>
              <a:pathLst>
                <a:path w="4790313" h="4445">
                  <a:moveTo>
                    <a:pt x="0" y="0"/>
                  </a:moveTo>
                  <a:lnTo>
                    <a:pt x="4790313" y="0"/>
                  </a:lnTo>
                  <a:lnTo>
                    <a:pt x="479031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659"/>
              <a:ext cx="4445" cy="1678559"/>
            </a:xfrm>
            <a:custGeom>
              <a:avLst/>
              <a:gdLst/>
              <a:ahLst/>
              <a:cxnLst/>
              <a:rect l="l" t="t" r="r" b="b"/>
              <a:pathLst>
                <a:path w="4445" h="1678559">
                  <a:moveTo>
                    <a:pt x="0" y="1678559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678559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849368" y="65659"/>
              <a:ext cx="4445" cy="1678559"/>
            </a:xfrm>
            <a:custGeom>
              <a:avLst/>
              <a:gdLst/>
              <a:ahLst/>
              <a:cxnLst/>
              <a:rect l="l" t="t" r="r" b="b"/>
              <a:pathLst>
                <a:path w="4445" h="1678559">
                  <a:moveTo>
                    <a:pt x="0" y="1678559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678559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742059"/>
              <a:ext cx="4790313" cy="4445"/>
            </a:xfrm>
            <a:custGeom>
              <a:avLst/>
              <a:gdLst/>
              <a:ahLst/>
              <a:cxnLst/>
              <a:rect l="l" t="t" r="r" b="b"/>
              <a:pathLst>
                <a:path w="4790313" h="4445">
                  <a:moveTo>
                    <a:pt x="0" y="0"/>
                  </a:moveTo>
                  <a:lnTo>
                    <a:pt x="4790313" y="0"/>
                  </a:lnTo>
                  <a:lnTo>
                    <a:pt x="479031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9812230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Binary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Cross-Section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Comparison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431" y="9818266"/>
            <a:ext cx="10357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23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75759" y="7487656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32791" y="7860965"/>
            <a:ext cx="15506990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case,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methods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accurate,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produces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coherent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26474" y="8342501"/>
            <a:ext cx="2537311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probability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field.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FC3323F-1651-2560-62FC-3E589DE99578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51883" y="2016986"/>
            <a:ext cx="15164598" cy="5158665"/>
            <a:chOff x="0" y="0"/>
            <a:chExt cx="4781398" cy="1626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81423" cy="1626489"/>
            </a:xfrm>
            <a:custGeom>
              <a:avLst/>
              <a:gdLst/>
              <a:ahLst/>
              <a:cxnLst/>
              <a:rect l="l" t="t" r="r" b="b"/>
              <a:pathLst>
                <a:path w="4781423" h="1626489">
                  <a:moveTo>
                    <a:pt x="0" y="1626489"/>
                  </a:moveTo>
                  <a:lnTo>
                    <a:pt x="4781423" y="1626489"/>
                  </a:lnTo>
                  <a:lnTo>
                    <a:pt x="47814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92001" y="2057195"/>
            <a:ext cx="15084120" cy="5078308"/>
            <a:chOff x="0" y="0"/>
            <a:chExt cx="6341364" cy="21349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1364" cy="2134870"/>
            </a:xfrm>
            <a:custGeom>
              <a:avLst/>
              <a:gdLst/>
              <a:ahLst/>
              <a:cxnLst/>
              <a:rect l="l" t="t" r="r" b="b"/>
              <a:pathLst>
                <a:path w="6341364" h="2134870">
                  <a:moveTo>
                    <a:pt x="0" y="0"/>
                  </a:moveTo>
                  <a:lnTo>
                    <a:pt x="6341364" y="0"/>
                  </a:lnTo>
                  <a:lnTo>
                    <a:pt x="6341364" y="2134870"/>
                  </a:lnTo>
                  <a:lnTo>
                    <a:pt x="0" y="2134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"/>
              </a:stretch>
            </a:blip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13" name="Freeform 1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151514"/>
                  </a:moveTo>
                  <a:lnTo>
                    <a:pt x="5759958" y="151514"/>
                  </a:lnTo>
                  <a:lnTo>
                    <a:pt x="57599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6400" y="1801533"/>
            <a:ext cx="15595503" cy="5589571"/>
            <a:chOff x="0" y="0"/>
            <a:chExt cx="4917262" cy="1762392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4790313" cy="4445"/>
            </a:xfrm>
            <a:custGeom>
              <a:avLst/>
              <a:gdLst/>
              <a:ahLst/>
              <a:cxnLst/>
              <a:rect l="l" t="t" r="r" b="b"/>
              <a:pathLst>
                <a:path w="4790313" h="4445">
                  <a:moveTo>
                    <a:pt x="0" y="0"/>
                  </a:moveTo>
                  <a:lnTo>
                    <a:pt x="4790313" y="0"/>
                  </a:lnTo>
                  <a:lnTo>
                    <a:pt x="479031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0" y="65786"/>
              <a:ext cx="4445" cy="1630934"/>
            </a:xfrm>
            <a:custGeom>
              <a:avLst/>
              <a:gdLst/>
              <a:ahLst/>
              <a:cxnLst/>
              <a:rect l="l" t="t" r="r" b="b"/>
              <a:pathLst>
                <a:path w="4445" h="1630934">
                  <a:moveTo>
                    <a:pt x="0" y="1630934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630934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849368" y="65786"/>
              <a:ext cx="4445" cy="1630934"/>
            </a:xfrm>
            <a:custGeom>
              <a:avLst/>
              <a:gdLst/>
              <a:ahLst/>
              <a:cxnLst/>
              <a:rect l="l" t="t" r="r" b="b"/>
              <a:pathLst>
                <a:path w="4445" h="1630934">
                  <a:moveTo>
                    <a:pt x="0" y="1630934"/>
                  </a:moveTo>
                  <a:lnTo>
                    <a:pt x="0" y="0"/>
                  </a:lnTo>
                  <a:lnTo>
                    <a:pt x="4445" y="0"/>
                  </a:lnTo>
                  <a:lnTo>
                    <a:pt x="4445" y="1630934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1694434"/>
              <a:ext cx="4790313" cy="4445"/>
            </a:xfrm>
            <a:custGeom>
              <a:avLst/>
              <a:gdLst/>
              <a:ahLst/>
              <a:cxnLst/>
              <a:rect l="l" t="t" r="r" b="b"/>
              <a:pathLst>
                <a:path w="4790313" h="4445">
                  <a:moveTo>
                    <a:pt x="0" y="0"/>
                  </a:moveTo>
                  <a:lnTo>
                    <a:pt x="4790313" y="0"/>
                  </a:lnTo>
                  <a:lnTo>
                    <a:pt x="4790313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6247" y="-17210"/>
            <a:ext cx="11665633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Four-Domain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Cross-Section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Comparison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6431" y="9818266"/>
            <a:ext cx="95956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24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75759" y="7425274"/>
            <a:ext cx="2813515" cy="28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Source: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</a:t>
            </a:r>
            <a:r>
              <a:rPr lang="en-US" sz="1579" spc="-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579" spc="-20">
                <a:solidFill>
                  <a:srgbClr val="72787E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(2023).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4993" y="7798552"/>
            <a:ext cx="16270984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four-domain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BlockSIS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result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visibly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noisier,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while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hierarchical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keeps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broader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86166" y="8280089"/>
            <a:ext cx="3231371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continuous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D61099F6-662D-4F45-DCED-6BC64A421F94}"/>
              </a:ext>
            </a:extLst>
          </p:cNvPr>
          <p:cNvSpPr txBox="1"/>
          <p:nvPr/>
        </p:nvSpPr>
        <p:spPr>
          <a:xfrm>
            <a:off x="16154400" y="317727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Results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8A9F-ABBD-CF90-4E74-A2B1A543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D5F310-1841-A743-981F-159C159219A4}"/>
              </a:ext>
            </a:extLst>
          </p:cNvPr>
          <p:cNvSpPr/>
          <p:nvPr/>
        </p:nvSpPr>
        <p:spPr>
          <a:xfrm>
            <a:off x="609600" y="3600166"/>
            <a:ext cx="5349354" cy="2447359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F5A3F11B-6761-47A9-F77D-AA7C83C85352}"/>
              </a:ext>
            </a:extLst>
          </p:cNvPr>
          <p:cNvSpPr/>
          <p:nvPr/>
        </p:nvSpPr>
        <p:spPr>
          <a:xfrm>
            <a:off x="12391780" y="3584617"/>
            <a:ext cx="5349354" cy="2447359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7905618-CB49-3C74-CEC1-E2358370F5AB}"/>
              </a:ext>
            </a:extLst>
          </p:cNvPr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3190674-8357-40FA-AE0F-A91BC152D50F}"/>
                </a:ext>
              </a:extLst>
            </p:cNvPr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85A5DA0-C38D-E134-51AD-A156B5C5C28A}"/>
                </a:ext>
              </a:extLst>
            </p:cNvPr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6DA912-C69B-2769-6F86-8D32C690EA0F}"/>
              </a:ext>
            </a:extLst>
          </p:cNvPr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B80B1A-76A0-3EA4-FABD-1EEAF5FDA3C3}"/>
                </a:ext>
              </a:extLst>
            </p:cNvPr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04C5349-1A05-A8E0-9C38-59C9FCA98B63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0489B4E-22D6-3EE1-1A41-3982B33CBB4F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77CC61A-87CA-955B-6D66-54AD9728D1FA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FDE8775-7986-A7BF-05E4-DF7A1ABF0441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A49CAED5-F746-0A85-2339-848CBD096C26}"/>
              </a:ext>
            </a:extLst>
          </p:cNvPr>
          <p:cNvSpPr txBox="1"/>
          <p:nvPr/>
        </p:nvSpPr>
        <p:spPr>
          <a:xfrm>
            <a:off x="911566" y="-17210"/>
            <a:ext cx="1064147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Advantages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Method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D8BFD78-4881-488F-450E-A331E1D1F1D5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3DB5331-F5E9-8F8F-3BAD-FF5B2E19161C}"/>
              </a:ext>
            </a:extLst>
          </p:cNvPr>
          <p:cNvSpPr txBox="1"/>
          <p:nvPr/>
        </p:nvSpPr>
        <p:spPr>
          <a:xfrm>
            <a:off x="16566401" y="9818266"/>
            <a:ext cx="95959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25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A5CD666-7DD3-C7C7-1CCB-D7E7C81C6F3A}"/>
              </a:ext>
            </a:extLst>
          </p:cNvPr>
          <p:cNvSpPr txBox="1"/>
          <p:nvPr/>
        </p:nvSpPr>
        <p:spPr>
          <a:xfrm rot="1661914">
            <a:off x="693858" y="362075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65A049BB-6C31-AC61-96A3-A27D8D0E719F}"/>
              </a:ext>
            </a:extLst>
          </p:cNvPr>
          <p:cNvSpPr txBox="1"/>
          <p:nvPr/>
        </p:nvSpPr>
        <p:spPr>
          <a:xfrm>
            <a:off x="15697200" y="39395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D57D702-5542-5D8F-8E47-EAE5A5747B5C}"/>
              </a:ext>
            </a:extLst>
          </p:cNvPr>
          <p:cNvSpPr txBox="1"/>
          <p:nvPr/>
        </p:nvSpPr>
        <p:spPr>
          <a:xfrm>
            <a:off x="1421228" y="4436929"/>
            <a:ext cx="358790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Technical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advantages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B9AD905-9B2A-27D9-A545-3CDDD632277F}"/>
              </a:ext>
            </a:extLst>
          </p:cNvPr>
          <p:cNvSpPr/>
          <p:nvPr/>
        </p:nvSpPr>
        <p:spPr>
          <a:xfrm>
            <a:off x="1212788" y="4809747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1B2DF3E7-F63F-2B90-D493-A383574B65A8}"/>
              </a:ext>
            </a:extLst>
          </p:cNvPr>
          <p:cNvSpPr/>
          <p:nvPr/>
        </p:nvSpPr>
        <p:spPr>
          <a:xfrm>
            <a:off x="6500690" y="3586064"/>
            <a:ext cx="5349354" cy="2447359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4FDFC915-9860-9236-8563-AD41718F7FCB}"/>
              </a:ext>
            </a:extLst>
          </p:cNvPr>
          <p:cNvSpPr txBox="1"/>
          <p:nvPr/>
        </p:nvSpPr>
        <p:spPr>
          <a:xfrm>
            <a:off x="8153400" y="4408731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Limitation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4A922BCA-3FEE-4ABF-F54D-A39E22354AC6}"/>
              </a:ext>
            </a:extLst>
          </p:cNvPr>
          <p:cNvSpPr txBox="1"/>
          <p:nvPr/>
        </p:nvSpPr>
        <p:spPr>
          <a:xfrm>
            <a:off x="14276137" y="4451939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work</a:t>
            </a: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76185746-D825-976B-CF0A-306BF4566575}"/>
              </a:ext>
            </a:extLst>
          </p:cNvPr>
          <p:cNvSpPr/>
          <p:nvPr/>
        </p:nvSpPr>
        <p:spPr>
          <a:xfrm>
            <a:off x="7838675" y="4781548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E6A49541-EC45-BBAB-63C2-F25A512087DA}"/>
              </a:ext>
            </a:extLst>
          </p:cNvPr>
          <p:cNvSpPr/>
          <p:nvPr/>
        </p:nvSpPr>
        <p:spPr>
          <a:xfrm>
            <a:off x="14042868" y="4837942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40" name="TextBox 29">
            <a:extLst>
              <a:ext uri="{FF2B5EF4-FFF2-40B4-BE49-F238E27FC236}">
                <a16:creationId xmlns:a16="http://schemas.microsoft.com/office/drawing/2014/main" id="{939B7916-B34E-DA32-B92C-3B96CE0BB917}"/>
              </a:ext>
            </a:extLst>
          </p:cNvPr>
          <p:cNvSpPr txBox="1"/>
          <p:nvPr/>
        </p:nvSpPr>
        <p:spPr>
          <a:xfrm rot="5200762">
            <a:off x="703164" y="570195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CE318209-CB0C-34D1-B298-6E2791565A6A}"/>
              </a:ext>
            </a:extLst>
          </p:cNvPr>
          <p:cNvSpPr txBox="1"/>
          <p:nvPr/>
        </p:nvSpPr>
        <p:spPr>
          <a:xfrm rot="21015147">
            <a:off x="5686172" y="568453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902ED729-A919-5F43-247D-6AD27F2F5C21}"/>
              </a:ext>
            </a:extLst>
          </p:cNvPr>
          <p:cNvSpPr txBox="1"/>
          <p:nvPr/>
        </p:nvSpPr>
        <p:spPr>
          <a:xfrm rot="1661914">
            <a:off x="5686173" y="368143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26737FDF-AFCB-425D-2781-79560650D54E}"/>
              </a:ext>
            </a:extLst>
          </p:cNvPr>
          <p:cNvSpPr txBox="1"/>
          <p:nvPr/>
        </p:nvSpPr>
        <p:spPr>
          <a:xfrm rot="21015147">
            <a:off x="11585653" y="562567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E88D7954-BDAB-C88F-BA7A-C6BD7068799D}"/>
              </a:ext>
            </a:extLst>
          </p:cNvPr>
          <p:cNvSpPr txBox="1"/>
          <p:nvPr/>
        </p:nvSpPr>
        <p:spPr>
          <a:xfrm rot="21015147">
            <a:off x="17398079" y="562630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1ADA6BA2-2AFF-C29A-8884-7D77EECCBB8F}"/>
              </a:ext>
            </a:extLst>
          </p:cNvPr>
          <p:cNvSpPr txBox="1"/>
          <p:nvPr/>
        </p:nvSpPr>
        <p:spPr>
          <a:xfrm rot="5200762">
            <a:off x="6536028" y="570195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6" name="TextBox 29">
            <a:extLst>
              <a:ext uri="{FF2B5EF4-FFF2-40B4-BE49-F238E27FC236}">
                <a16:creationId xmlns:a16="http://schemas.microsoft.com/office/drawing/2014/main" id="{AC887D85-B46B-EE15-C6F3-C3BDC63A1F55}"/>
              </a:ext>
            </a:extLst>
          </p:cNvPr>
          <p:cNvSpPr txBox="1"/>
          <p:nvPr/>
        </p:nvSpPr>
        <p:spPr>
          <a:xfrm rot="5200762">
            <a:off x="12535624" y="570842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D46D2903-D753-3C3F-8549-EFF40743E79D}"/>
              </a:ext>
            </a:extLst>
          </p:cNvPr>
          <p:cNvSpPr txBox="1"/>
          <p:nvPr/>
        </p:nvSpPr>
        <p:spPr>
          <a:xfrm rot="5200762">
            <a:off x="6612759" y="365527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DCFC6B97-28D4-C288-D1B8-3C2D01813CFB}"/>
              </a:ext>
            </a:extLst>
          </p:cNvPr>
          <p:cNvSpPr txBox="1"/>
          <p:nvPr/>
        </p:nvSpPr>
        <p:spPr>
          <a:xfrm rot="1661914">
            <a:off x="17445410" y="362075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DA03D458-B674-B28D-FA8D-0FCDDC5EB937}"/>
              </a:ext>
            </a:extLst>
          </p:cNvPr>
          <p:cNvSpPr txBox="1"/>
          <p:nvPr/>
        </p:nvSpPr>
        <p:spPr>
          <a:xfrm rot="1661914">
            <a:off x="11561590" y="363630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1809206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639876" y="3052710"/>
            <a:ext cx="8770973" cy="4605389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87D25D0E-C310-BD9C-A5BF-80E9D315B48B}"/>
              </a:ext>
            </a:extLst>
          </p:cNvPr>
          <p:cNvSpPr/>
          <p:nvPr/>
        </p:nvSpPr>
        <p:spPr>
          <a:xfrm>
            <a:off x="13898195" y="3604612"/>
            <a:ext cx="3805387" cy="2106991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grpSp>
        <p:nvGrpSpPr>
          <p:cNvPr id="6" name="Group 6"/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1566" y="-17210"/>
            <a:ext cx="1064147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Advantages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Method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566401" y="9818266"/>
            <a:ext cx="95959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25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9" name="TextBox 29"/>
          <p:cNvSpPr txBox="1"/>
          <p:nvPr/>
        </p:nvSpPr>
        <p:spPr>
          <a:xfrm rot="1661914">
            <a:off x="1131557" y="412198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6D915903-2B3D-7395-A787-ACAD44826FA0}"/>
              </a:ext>
            </a:extLst>
          </p:cNvPr>
          <p:cNvSpPr txBox="1"/>
          <p:nvPr/>
        </p:nvSpPr>
        <p:spPr>
          <a:xfrm>
            <a:off x="15697200" y="39395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37461" y="3256726"/>
            <a:ext cx="358790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Technical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advantages</a:t>
            </a:r>
          </a:p>
        </p:txBody>
      </p:sp>
      <p:sp>
        <p:nvSpPr>
          <p:cNvPr id="4" name="Freeform 4"/>
          <p:cNvSpPr/>
          <p:nvPr/>
        </p:nvSpPr>
        <p:spPr>
          <a:xfrm>
            <a:off x="1227851" y="3645298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5F2E47CB-9FB2-0572-DCE1-411921513233}"/>
              </a:ext>
            </a:extLst>
          </p:cNvPr>
          <p:cNvSpPr/>
          <p:nvPr/>
        </p:nvSpPr>
        <p:spPr>
          <a:xfrm>
            <a:off x="9892979" y="3600166"/>
            <a:ext cx="3696644" cy="2165821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9D7DD907-A262-4428-43F2-1554235ABAAF}"/>
              </a:ext>
            </a:extLst>
          </p:cNvPr>
          <p:cNvSpPr txBox="1"/>
          <p:nvPr/>
        </p:nvSpPr>
        <p:spPr>
          <a:xfrm>
            <a:off x="10867603" y="4436929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Limitation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52DE6B00-ED14-BFB9-319A-9A28E24E20CF}"/>
              </a:ext>
            </a:extLst>
          </p:cNvPr>
          <p:cNvSpPr txBox="1"/>
          <p:nvPr/>
        </p:nvSpPr>
        <p:spPr>
          <a:xfrm>
            <a:off x="14886363" y="4410461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work</a:t>
            </a: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9D17941C-F432-25C4-F856-C48DA2493F4C}"/>
              </a:ext>
            </a:extLst>
          </p:cNvPr>
          <p:cNvSpPr/>
          <p:nvPr/>
        </p:nvSpPr>
        <p:spPr>
          <a:xfrm>
            <a:off x="10564145" y="4809747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40" name="TextBox 29">
            <a:extLst>
              <a:ext uri="{FF2B5EF4-FFF2-40B4-BE49-F238E27FC236}">
                <a16:creationId xmlns:a16="http://schemas.microsoft.com/office/drawing/2014/main" id="{85C32861-34CB-2FE5-55DB-E1B57D7AFC02}"/>
              </a:ext>
            </a:extLst>
          </p:cNvPr>
          <p:cNvSpPr txBox="1"/>
          <p:nvPr/>
        </p:nvSpPr>
        <p:spPr>
          <a:xfrm rot="5200762">
            <a:off x="1081339" y="536858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FF7FC5C5-6B3B-B9D1-0242-22D53C1B99D0}"/>
              </a:ext>
            </a:extLst>
          </p:cNvPr>
          <p:cNvSpPr txBox="1"/>
          <p:nvPr/>
        </p:nvSpPr>
        <p:spPr>
          <a:xfrm rot="21015147">
            <a:off x="1071559" y="643881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421F9618-77C7-8536-B973-4D1F50B99CDA}"/>
              </a:ext>
            </a:extLst>
          </p:cNvPr>
          <p:cNvSpPr txBox="1"/>
          <p:nvPr/>
        </p:nvSpPr>
        <p:spPr>
          <a:xfrm rot="1661914">
            <a:off x="1118891" y="471921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DB1F5663-7EC7-F8CD-63A4-CDE7D329B0FD}"/>
              </a:ext>
            </a:extLst>
          </p:cNvPr>
          <p:cNvSpPr txBox="1"/>
          <p:nvPr/>
        </p:nvSpPr>
        <p:spPr>
          <a:xfrm rot="21015147">
            <a:off x="13324705" y="536420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C620C5E6-EBCC-2F1E-BDB5-E802A931A87F}"/>
              </a:ext>
            </a:extLst>
          </p:cNvPr>
          <p:cNvSpPr txBox="1"/>
          <p:nvPr/>
        </p:nvSpPr>
        <p:spPr>
          <a:xfrm rot="21015147">
            <a:off x="17445410" y="533330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98C476A7-511F-6B09-ECD2-EB57D7286591}"/>
              </a:ext>
            </a:extLst>
          </p:cNvPr>
          <p:cNvSpPr txBox="1"/>
          <p:nvPr/>
        </p:nvSpPr>
        <p:spPr>
          <a:xfrm rot="5200762">
            <a:off x="9928317" y="5470937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6" name="TextBox 29">
            <a:extLst>
              <a:ext uri="{FF2B5EF4-FFF2-40B4-BE49-F238E27FC236}">
                <a16:creationId xmlns:a16="http://schemas.microsoft.com/office/drawing/2014/main" id="{C6EC0DF9-A4A4-B6F9-F7FB-456461762868}"/>
              </a:ext>
            </a:extLst>
          </p:cNvPr>
          <p:cNvSpPr txBox="1"/>
          <p:nvPr/>
        </p:nvSpPr>
        <p:spPr>
          <a:xfrm rot="5200762">
            <a:off x="14004401" y="5399320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BBDD39DA-DB7B-3818-E475-60D7502D969E}"/>
              </a:ext>
            </a:extLst>
          </p:cNvPr>
          <p:cNvSpPr txBox="1"/>
          <p:nvPr/>
        </p:nvSpPr>
        <p:spPr>
          <a:xfrm rot="5200762">
            <a:off x="10014083" y="3675529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3C8EF11F-4ABF-32F1-EB8B-4FA4DF2BAE86}"/>
              </a:ext>
            </a:extLst>
          </p:cNvPr>
          <p:cNvSpPr txBox="1"/>
          <p:nvPr/>
        </p:nvSpPr>
        <p:spPr>
          <a:xfrm rot="1661914">
            <a:off x="17445410" y="362075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EEEA5D18-4EC9-70C9-FF39-D2DF0B71B530}"/>
              </a:ext>
            </a:extLst>
          </p:cNvPr>
          <p:cNvSpPr txBox="1"/>
          <p:nvPr/>
        </p:nvSpPr>
        <p:spPr>
          <a:xfrm rot="1661914">
            <a:off x="13961974" y="357536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2E492E53-8A31-FF79-AF89-0DF6246E40A4}"/>
              </a:ext>
            </a:extLst>
          </p:cNvPr>
          <p:cNvSpPr/>
          <p:nvPr/>
        </p:nvSpPr>
        <p:spPr>
          <a:xfrm>
            <a:off x="14670549" y="4781552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50" name="TextBox 29">
            <a:extLst>
              <a:ext uri="{FF2B5EF4-FFF2-40B4-BE49-F238E27FC236}">
                <a16:creationId xmlns:a16="http://schemas.microsoft.com/office/drawing/2014/main" id="{D8F4A59B-DE5F-6BA8-BA98-549965C6DA02}"/>
              </a:ext>
            </a:extLst>
          </p:cNvPr>
          <p:cNvSpPr txBox="1"/>
          <p:nvPr/>
        </p:nvSpPr>
        <p:spPr>
          <a:xfrm rot="5200762">
            <a:off x="13262880" y="362075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51" name="TextBox 30">
            <a:extLst>
              <a:ext uri="{FF2B5EF4-FFF2-40B4-BE49-F238E27FC236}">
                <a16:creationId xmlns:a16="http://schemas.microsoft.com/office/drawing/2014/main" id="{68B27855-DAAC-44D9-568D-B3F53C0F2F21}"/>
              </a:ext>
            </a:extLst>
          </p:cNvPr>
          <p:cNvSpPr txBox="1"/>
          <p:nvPr/>
        </p:nvSpPr>
        <p:spPr>
          <a:xfrm>
            <a:off x="1367386" y="3967825"/>
            <a:ext cx="7294555" cy="327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multivariate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information. Allows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knowledge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selection. Produces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probability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maps,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only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hard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labels.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Controls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boundary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smoothness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through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SVC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parameters.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6F98-3740-976A-7353-47776B61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5">
            <a:extLst>
              <a:ext uri="{FF2B5EF4-FFF2-40B4-BE49-F238E27FC236}">
                <a16:creationId xmlns:a16="http://schemas.microsoft.com/office/drawing/2014/main" id="{98134B48-DEE9-D6C5-FD31-D75DCFE0FF17}"/>
              </a:ext>
            </a:extLst>
          </p:cNvPr>
          <p:cNvSpPr/>
          <p:nvPr/>
        </p:nvSpPr>
        <p:spPr>
          <a:xfrm>
            <a:off x="13607396" y="3564354"/>
            <a:ext cx="4166305" cy="2181366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231697E-1819-B310-CB91-88DE138C7DE1}"/>
              </a:ext>
            </a:extLst>
          </p:cNvPr>
          <p:cNvSpPr/>
          <p:nvPr/>
        </p:nvSpPr>
        <p:spPr>
          <a:xfrm>
            <a:off x="469073" y="3631751"/>
            <a:ext cx="3962400" cy="2094773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E47C916-CE59-4ACE-8F41-7BA9F498682C}"/>
              </a:ext>
            </a:extLst>
          </p:cNvPr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EFDF15-8EDC-FEFD-2CBA-DB2E3BC878F5}"/>
                </a:ext>
              </a:extLst>
            </p:cNvPr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BCE4416-A90C-8E80-251D-C62C70F4697B}"/>
                </a:ext>
              </a:extLst>
            </p:cNvPr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BEF857B-B767-56D9-CB52-8BE7DAFE65B2}"/>
              </a:ext>
            </a:extLst>
          </p:cNvPr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4DD872E-DF1B-57D3-5F47-B9761E10A4A7}"/>
                </a:ext>
              </a:extLst>
            </p:cNvPr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411C255-6CE5-BC4A-0280-0B440AA9D9B4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3F25DBC-634A-B3A5-C2FE-86EAB5EEF1FB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B50A03B-47E0-9EFF-9376-C3B383F0FB65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AB24F03-BD4F-EF3B-58B2-BE46A25F2B76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7EF6EE6-8113-4E7F-EC73-7EF69F093830}"/>
              </a:ext>
            </a:extLst>
          </p:cNvPr>
          <p:cNvSpPr txBox="1"/>
          <p:nvPr/>
        </p:nvSpPr>
        <p:spPr>
          <a:xfrm>
            <a:off x="911566" y="-17210"/>
            <a:ext cx="1064147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Advantages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Method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A0DC894-35FB-B213-3E44-8B6372AAF682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6C5C80C-20F8-D40D-1E07-BA26A4FBF51D}"/>
              </a:ext>
            </a:extLst>
          </p:cNvPr>
          <p:cNvSpPr txBox="1"/>
          <p:nvPr/>
        </p:nvSpPr>
        <p:spPr>
          <a:xfrm>
            <a:off x="16566401" y="9818266"/>
            <a:ext cx="95959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25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D01AF8D-C418-A307-C88F-ED74A913B839}"/>
              </a:ext>
            </a:extLst>
          </p:cNvPr>
          <p:cNvSpPr txBox="1"/>
          <p:nvPr/>
        </p:nvSpPr>
        <p:spPr>
          <a:xfrm rot="1661914">
            <a:off x="693858" y="362075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01342B96-B8B1-0F19-B3F5-1ABC8C956DC2}"/>
              </a:ext>
            </a:extLst>
          </p:cNvPr>
          <p:cNvSpPr txBox="1"/>
          <p:nvPr/>
        </p:nvSpPr>
        <p:spPr>
          <a:xfrm>
            <a:off x="15697200" y="39395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8D661DA-91F9-85F8-2362-770BF8CBCDD2}"/>
              </a:ext>
            </a:extLst>
          </p:cNvPr>
          <p:cNvSpPr txBox="1"/>
          <p:nvPr/>
        </p:nvSpPr>
        <p:spPr>
          <a:xfrm>
            <a:off x="864288" y="4427591"/>
            <a:ext cx="358790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Technical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advantages</a:t>
            </a:r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8CC4379B-68EC-3240-5237-4A0E2C5E7AD2}"/>
              </a:ext>
            </a:extLst>
          </p:cNvPr>
          <p:cNvSpPr/>
          <p:nvPr/>
        </p:nvSpPr>
        <p:spPr>
          <a:xfrm>
            <a:off x="4748908" y="3087732"/>
            <a:ext cx="8357492" cy="4409580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F5547229-D38B-608F-66F7-AA411686FF19}"/>
              </a:ext>
            </a:extLst>
          </p:cNvPr>
          <p:cNvSpPr txBox="1"/>
          <p:nvPr/>
        </p:nvSpPr>
        <p:spPr>
          <a:xfrm>
            <a:off x="5393140" y="3345962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Limitation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206E3D85-7F7E-5D60-BE90-73192AF202E6}"/>
              </a:ext>
            </a:extLst>
          </p:cNvPr>
          <p:cNvSpPr txBox="1"/>
          <p:nvPr/>
        </p:nvSpPr>
        <p:spPr>
          <a:xfrm>
            <a:off x="14537895" y="4467244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work</a:t>
            </a: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824A0426-41A2-5220-A036-47F83021CF0F}"/>
              </a:ext>
            </a:extLst>
          </p:cNvPr>
          <p:cNvSpPr/>
          <p:nvPr/>
        </p:nvSpPr>
        <p:spPr>
          <a:xfrm>
            <a:off x="5166164" y="3700330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40" name="TextBox 29">
            <a:extLst>
              <a:ext uri="{FF2B5EF4-FFF2-40B4-BE49-F238E27FC236}">
                <a16:creationId xmlns:a16="http://schemas.microsoft.com/office/drawing/2014/main" id="{1272F242-E0BB-140D-4180-41684D536B2B}"/>
              </a:ext>
            </a:extLst>
          </p:cNvPr>
          <p:cNvSpPr txBox="1"/>
          <p:nvPr/>
        </p:nvSpPr>
        <p:spPr>
          <a:xfrm rot="5200762">
            <a:off x="554316" y="540343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A81BB891-3AC7-75F5-3E4E-C19D6B61ED68}"/>
              </a:ext>
            </a:extLst>
          </p:cNvPr>
          <p:cNvSpPr txBox="1"/>
          <p:nvPr/>
        </p:nvSpPr>
        <p:spPr>
          <a:xfrm rot="21015147">
            <a:off x="4220949" y="529563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FAE92AA0-1071-86D8-1F49-890F134001E3}"/>
              </a:ext>
            </a:extLst>
          </p:cNvPr>
          <p:cNvSpPr txBox="1"/>
          <p:nvPr/>
        </p:nvSpPr>
        <p:spPr>
          <a:xfrm rot="1661914">
            <a:off x="4172433" y="358944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C5DCC698-0D03-BD46-A8A4-2333FB5D7561}"/>
              </a:ext>
            </a:extLst>
          </p:cNvPr>
          <p:cNvSpPr txBox="1"/>
          <p:nvPr/>
        </p:nvSpPr>
        <p:spPr>
          <a:xfrm rot="21015147">
            <a:off x="4998861" y="646521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879BE825-BFD9-6128-0073-0C9CC1F1D8FC}"/>
              </a:ext>
            </a:extLst>
          </p:cNvPr>
          <p:cNvSpPr txBox="1"/>
          <p:nvPr/>
        </p:nvSpPr>
        <p:spPr>
          <a:xfrm rot="21015147">
            <a:off x="17445409" y="531559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EC9FA138-7D9E-25B5-54ED-29FD7D8FBF7E}"/>
              </a:ext>
            </a:extLst>
          </p:cNvPr>
          <p:cNvSpPr txBox="1"/>
          <p:nvPr/>
        </p:nvSpPr>
        <p:spPr>
          <a:xfrm rot="5200762">
            <a:off x="5008461" y="481710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6" name="TextBox 29">
            <a:extLst>
              <a:ext uri="{FF2B5EF4-FFF2-40B4-BE49-F238E27FC236}">
                <a16:creationId xmlns:a16="http://schemas.microsoft.com/office/drawing/2014/main" id="{AC12CE3B-D79C-4D1E-F2F8-0AF9046F8447}"/>
              </a:ext>
            </a:extLst>
          </p:cNvPr>
          <p:cNvSpPr txBox="1"/>
          <p:nvPr/>
        </p:nvSpPr>
        <p:spPr>
          <a:xfrm rot="5200762">
            <a:off x="13690065" y="545749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9D3F5D01-B719-2445-117E-52BFB0912E11}"/>
              </a:ext>
            </a:extLst>
          </p:cNvPr>
          <p:cNvSpPr txBox="1"/>
          <p:nvPr/>
        </p:nvSpPr>
        <p:spPr>
          <a:xfrm rot="5200762">
            <a:off x="5008461" y="4183189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AD96D05E-3157-A116-82DF-AA15D14F9AEC}"/>
              </a:ext>
            </a:extLst>
          </p:cNvPr>
          <p:cNvSpPr txBox="1"/>
          <p:nvPr/>
        </p:nvSpPr>
        <p:spPr>
          <a:xfrm rot="1661914">
            <a:off x="17445410" y="362075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45915ADB-FE89-5184-3964-17106F437952}"/>
              </a:ext>
            </a:extLst>
          </p:cNvPr>
          <p:cNvSpPr txBox="1"/>
          <p:nvPr/>
        </p:nvSpPr>
        <p:spPr>
          <a:xfrm rot="1661914">
            <a:off x="5046193" y="538601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CB8A26-D9A7-B49C-583E-3EBF00510D97}"/>
              </a:ext>
            </a:extLst>
          </p:cNvPr>
          <p:cNvSpPr/>
          <p:nvPr/>
        </p:nvSpPr>
        <p:spPr>
          <a:xfrm>
            <a:off x="643558" y="4867036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0E06F355-93B3-CC71-740C-5E2A6B8EDA45}"/>
              </a:ext>
            </a:extLst>
          </p:cNvPr>
          <p:cNvSpPr/>
          <p:nvPr/>
        </p:nvSpPr>
        <p:spPr>
          <a:xfrm>
            <a:off x="14285936" y="4838841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2" name="TextBox 29">
            <a:extLst>
              <a:ext uri="{FF2B5EF4-FFF2-40B4-BE49-F238E27FC236}">
                <a16:creationId xmlns:a16="http://schemas.microsoft.com/office/drawing/2014/main" id="{33EF5A4D-B3D6-8676-5484-2042B9458A96}"/>
              </a:ext>
            </a:extLst>
          </p:cNvPr>
          <p:cNvSpPr txBox="1"/>
          <p:nvPr/>
        </p:nvSpPr>
        <p:spPr>
          <a:xfrm rot="5200762">
            <a:off x="13737397" y="363630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5E655C32-EF4A-B6DF-C500-FFB4914D8D02}"/>
              </a:ext>
            </a:extLst>
          </p:cNvPr>
          <p:cNvSpPr txBox="1"/>
          <p:nvPr/>
        </p:nvSpPr>
        <p:spPr>
          <a:xfrm>
            <a:off x="5210630" y="4149514"/>
            <a:ext cx="7364912" cy="3116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Variable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selection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strongly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controls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 outcome.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hierarchy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propagate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early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mistakes.</a:t>
            </a:r>
          </a:p>
          <a:p>
            <a:pPr algn="l">
              <a:lnSpc>
                <a:spcPts val="3475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Oversampled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zones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bias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optimized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global proportions.</a:t>
            </a:r>
          </a:p>
          <a:p>
            <a:pPr algn="l">
              <a:lnSpc>
                <a:spcPts val="6003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Log-normal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assumptions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hold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all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elements.</a:t>
            </a:r>
          </a:p>
        </p:txBody>
      </p:sp>
    </p:spTree>
    <p:extLst>
      <p:ext uri="{BB962C8B-B14F-4D97-AF65-F5344CB8AC3E}">
        <p14:creationId xmlns:p14="http://schemas.microsoft.com/office/powerpoint/2010/main" val="1480205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CF2A-623F-BBF6-4753-A8595C1A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5">
            <a:extLst>
              <a:ext uri="{FF2B5EF4-FFF2-40B4-BE49-F238E27FC236}">
                <a16:creationId xmlns:a16="http://schemas.microsoft.com/office/drawing/2014/main" id="{5CD9E10B-0CF4-444B-F930-E23C8063BB74}"/>
              </a:ext>
            </a:extLst>
          </p:cNvPr>
          <p:cNvSpPr/>
          <p:nvPr/>
        </p:nvSpPr>
        <p:spPr>
          <a:xfrm>
            <a:off x="4761909" y="3579335"/>
            <a:ext cx="4166305" cy="2181366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544E9B-7517-2C44-7888-4071D150B1DC}"/>
              </a:ext>
            </a:extLst>
          </p:cNvPr>
          <p:cNvSpPr/>
          <p:nvPr/>
        </p:nvSpPr>
        <p:spPr>
          <a:xfrm>
            <a:off x="469073" y="3631751"/>
            <a:ext cx="3962400" cy="2094773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6839A89-FA8B-D01D-B297-B6358A782FC3}"/>
              </a:ext>
            </a:extLst>
          </p:cNvPr>
          <p:cNvGrpSpPr/>
          <p:nvPr/>
        </p:nvGrpSpPr>
        <p:grpSpPr>
          <a:xfrm>
            <a:off x="-201406" y="9587292"/>
            <a:ext cx="18671084" cy="897459"/>
            <a:chOff x="0" y="0"/>
            <a:chExt cx="5886996" cy="2829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0B7A52-6435-6FA9-02CE-1054256E6A71}"/>
                </a:ext>
              </a:extLst>
            </p:cNvPr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54EA510-CF43-7454-BCC1-916ED7A67A05}"/>
                </a:ext>
              </a:extLst>
            </p:cNvPr>
            <p:cNvSpPr/>
            <p:nvPr/>
          </p:nvSpPr>
          <p:spPr>
            <a:xfrm>
              <a:off x="63500" y="67944"/>
              <a:ext cx="5759958" cy="151509"/>
            </a:xfrm>
            <a:custGeom>
              <a:avLst/>
              <a:gdLst/>
              <a:ahLst/>
              <a:cxnLst/>
              <a:rect l="l" t="t" r="r" b="b"/>
              <a:pathLst>
                <a:path w="5759958" h="151509">
                  <a:moveTo>
                    <a:pt x="0" y="0"/>
                  </a:moveTo>
                  <a:lnTo>
                    <a:pt x="0" y="151509"/>
                  </a:lnTo>
                  <a:lnTo>
                    <a:pt x="5759958" y="151509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0F28F88-9B53-ECDC-2B99-D8F03FA6D4FC}"/>
              </a:ext>
            </a:extLst>
          </p:cNvPr>
          <p:cNvGrpSpPr/>
          <p:nvPr/>
        </p:nvGrpSpPr>
        <p:grpSpPr>
          <a:xfrm>
            <a:off x="936247" y="281460"/>
            <a:ext cx="16395809" cy="507426"/>
            <a:chOff x="0" y="0"/>
            <a:chExt cx="5169599" cy="1599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1CF0612-8327-1058-E8DE-08E62694B8BE}"/>
                </a:ext>
              </a:extLst>
            </p:cNvPr>
            <p:cNvSpPr/>
            <p:nvPr/>
          </p:nvSpPr>
          <p:spPr>
            <a:xfrm>
              <a:off x="0" y="0"/>
              <a:ext cx="5169535" cy="160020"/>
            </a:xfrm>
            <a:custGeom>
              <a:avLst/>
              <a:gdLst/>
              <a:ahLst/>
              <a:cxnLst/>
              <a:rect l="l" t="t" r="r" b="b"/>
              <a:pathLst>
                <a:path w="5169535" h="160020">
                  <a:moveTo>
                    <a:pt x="0" y="160020"/>
                  </a:moveTo>
                  <a:lnTo>
                    <a:pt x="5169535" y="160020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A4065D4-F308-8403-66B1-33E9B4E21A58}"/>
              </a:ext>
            </a:extLst>
          </p:cNvPr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E47091C-1605-EB1E-E71E-D404212F5858}"/>
                </a:ext>
              </a:extLst>
            </p:cNvPr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1E9C6D0-9A3F-5B5C-FBA1-FAF2AC527DCE}"/>
                </a:ext>
              </a:extLst>
            </p:cNvPr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E265A77-DFC0-F961-C4B7-8B59007395A6}"/>
                </a:ext>
              </a:extLst>
            </p:cNvPr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09944DD7-D1D5-3854-A914-843237205695}"/>
              </a:ext>
            </a:extLst>
          </p:cNvPr>
          <p:cNvSpPr txBox="1"/>
          <p:nvPr/>
        </p:nvSpPr>
        <p:spPr>
          <a:xfrm>
            <a:off x="911566" y="-17210"/>
            <a:ext cx="10641476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Advantages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of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</a:t>
            </a:r>
            <a:r>
              <a:rPr lang="en-US" sz="4550" b="1" spc="-18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Method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35E12CD-0CD6-CE6C-6006-D412E6EDBF9D}"/>
              </a:ext>
            </a:extLst>
          </p:cNvPr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493A268-598A-B4BB-E91E-C99865FC6D80}"/>
              </a:ext>
            </a:extLst>
          </p:cNvPr>
          <p:cNvSpPr txBox="1"/>
          <p:nvPr/>
        </p:nvSpPr>
        <p:spPr>
          <a:xfrm>
            <a:off x="16566401" y="9818266"/>
            <a:ext cx="95959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25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593CD97-3314-4D33-6A43-B4F0067B8CEC}"/>
              </a:ext>
            </a:extLst>
          </p:cNvPr>
          <p:cNvSpPr txBox="1"/>
          <p:nvPr/>
        </p:nvSpPr>
        <p:spPr>
          <a:xfrm rot="1661914">
            <a:off x="693858" y="3620755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35135A61-FA65-BE1F-ED23-2C4EB89F8D4F}"/>
              </a:ext>
            </a:extLst>
          </p:cNvPr>
          <p:cNvSpPr txBox="1"/>
          <p:nvPr/>
        </p:nvSpPr>
        <p:spPr>
          <a:xfrm>
            <a:off x="15697200" y="39395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00B1CD2-9E72-E104-BC6C-CA4F26F8ACB7}"/>
              </a:ext>
            </a:extLst>
          </p:cNvPr>
          <p:cNvSpPr txBox="1"/>
          <p:nvPr/>
        </p:nvSpPr>
        <p:spPr>
          <a:xfrm>
            <a:off x="864288" y="4427591"/>
            <a:ext cx="3587901" cy="5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Technical</a:t>
            </a:r>
            <a:r>
              <a:rPr lang="en-US" sz="2843" b="1" spc="45" dirty="0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advantages</a:t>
            </a:r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05661683-B443-6EE6-3E3B-5312B381B0A1}"/>
              </a:ext>
            </a:extLst>
          </p:cNvPr>
          <p:cNvSpPr/>
          <p:nvPr/>
        </p:nvSpPr>
        <p:spPr>
          <a:xfrm>
            <a:off x="9321547" y="2853740"/>
            <a:ext cx="8357492" cy="4942662"/>
          </a:xfrm>
          <a:custGeom>
            <a:avLst/>
            <a:gdLst/>
            <a:ahLst/>
            <a:cxnLst/>
            <a:rect l="l" t="t" r="r" b="b"/>
            <a:pathLst>
              <a:path w="2481326" h="1227201">
                <a:moveTo>
                  <a:pt x="0" y="1227201"/>
                </a:moveTo>
                <a:lnTo>
                  <a:pt x="2481326" y="1227201"/>
                </a:lnTo>
                <a:lnTo>
                  <a:pt x="2481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/>
          <a:lstStyle/>
          <a:p>
            <a:endParaRPr lang="ru-KZ" dirty="0"/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FABF0F49-84E4-032B-095E-1D8A7F62F476}"/>
              </a:ext>
            </a:extLst>
          </p:cNvPr>
          <p:cNvSpPr txBox="1"/>
          <p:nvPr/>
        </p:nvSpPr>
        <p:spPr>
          <a:xfrm>
            <a:off x="6067294" y="4374006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Limitation</a:t>
            </a: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41FC63BE-9B9C-5D31-634D-C22253C023EF}"/>
              </a:ext>
            </a:extLst>
          </p:cNvPr>
          <p:cNvSpPr txBox="1"/>
          <p:nvPr/>
        </p:nvSpPr>
        <p:spPr>
          <a:xfrm>
            <a:off x="10230085" y="3154441"/>
            <a:ext cx="3587901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work</a:t>
            </a:r>
          </a:p>
        </p:txBody>
      </p:sp>
      <p:sp>
        <p:nvSpPr>
          <p:cNvPr id="35" name="Freeform 4">
            <a:extLst>
              <a:ext uri="{FF2B5EF4-FFF2-40B4-BE49-F238E27FC236}">
                <a16:creationId xmlns:a16="http://schemas.microsoft.com/office/drawing/2014/main" id="{0A811606-FA95-C330-8540-4D3E0109ABDD}"/>
              </a:ext>
            </a:extLst>
          </p:cNvPr>
          <p:cNvSpPr/>
          <p:nvPr/>
        </p:nvSpPr>
        <p:spPr>
          <a:xfrm>
            <a:off x="5773748" y="4748451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40" name="TextBox 29">
            <a:extLst>
              <a:ext uri="{FF2B5EF4-FFF2-40B4-BE49-F238E27FC236}">
                <a16:creationId xmlns:a16="http://schemas.microsoft.com/office/drawing/2014/main" id="{09F64608-5F21-253A-1817-296B20817F77}"/>
              </a:ext>
            </a:extLst>
          </p:cNvPr>
          <p:cNvSpPr txBox="1"/>
          <p:nvPr/>
        </p:nvSpPr>
        <p:spPr>
          <a:xfrm rot="5200762">
            <a:off x="554316" y="540343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998E6264-B401-2FC1-467A-680CF8429D4E}"/>
              </a:ext>
            </a:extLst>
          </p:cNvPr>
          <p:cNvSpPr txBox="1"/>
          <p:nvPr/>
        </p:nvSpPr>
        <p:spPr>
          <a:xfrm rot="21015147">
            <a:off x="4220949" y="5295633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AE4FBAB1-1649-ACFB-811F-0E8699E00B61}"/>
              </a:ext>
            </a:extLst>
          </p:cNvPr>
          <p:cNvSpPr txBox="1"/>
          <p:nvPr/>
        </p:nvSpPr>
        <p:spPr>
          <a:xfrm rot="1661914">
            <a:off x="4172433" y="358944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FEAF10FE-6A41-D394-AE6A-A061D8F53AE2}"/>
              </a:ext>
            </a:extLst>
          </p:cNvPr>
          <p:cNvSpPr txBox="1"/>
          <p:nvPr/>
        </p:nvSpPr>
        <p:spPr>
          <a:xfrm rot="21015147">
            <a:off x="8639760" y="5374748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6976E5B9-C03D-08BB-68E0-1B528B55A3C7}"/>
              </a:ext>
            </a:extLst>
          </p:cNvPr>
          <p:cNvSpPr txBox="1"/>
          <p:nvPr/>
        </p:nvSpPr>
        <p:spPr>
          <a:xfrm rot="21015147">
            <a:off x="9729346" y="6563739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54497F93-9DF5-834A-490E-CE61EF57E465}"/>
              </a:ext>
            </a:extLst>
          </p:cNvPr>
          <p:cNvSpPr txBox="1"/>
          <p:nvPr/>
        </p:nvSpPr>
        <p:spPr>
          <a:xfrm rot="5200762">
            <a:off x="8575134" y="368961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6" name="TextBox 29">
            <a:extLst>
              <a:ext uri="{FF2B5EF4-FFF2-40B4-BE49-F238E27FC236}">
                <a16:creationId xmlns:a16="http://schemas.microsoft.com/office/drawing/2014/main" id="{6241171A-BAA2-A7FE-C066-000F53FFCA8F}"/>
              </a:ext>
            </a:extLst>
          </p:cNvPr>
          <p:cNvSpPr txBox="1"/>
          <p:nvPr/>
        </p:nvSpPr>
        <p:spPr>
          <a:xfrm rot="5200762">
            <a:off x="9683072" y="4524012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36D2F370-10AF-B4AB-DDB4-BDDF64F36048}"/>
              </a:ext>
            </a:extLst>
          </p:cNvPr>
          <p:cNvSpPr txBox="1"/>
          <p:nvPr/>
        </p:nvSpPr>
        <p:spPr>
          <a:xfrm rot="5200762">
            <a:off x="4950616" y="3681459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D4227883-0C4E-B004-9224-FD9D987DB45A}"/>
              </a:ext>
            </a:extLst>
          </p:cNvPr>
          <p:cNvSpPr txBox="1"/>
          <p:nvPr/>
        </p:nvSpPr>
        <p:spPr>
          <a:xfrm rot="1661914">
            <a:off x="9753691" y="551787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9" name="TextBox 29">
            <a:extLst>
              <a:ext uri="{FF2B5EF4-FFF2-40B4-BE49-F238E27FC236}">
                <a16:creationId xmlns:a16="http://schemas.microsoft.com/office/drawing/2014/main" id="{F3DCA9A9-DB8C-9C60-4FB0-CD2082EE02B4}"/>
              </a:ext>
            </a:extLst>
          </p:cNvPr>
          <p:cNvSpPr txBox="1"/>
          <p:nvPr/>
        </p:nvSpPr>
        <p:spPr>
          <a:xfrm rot="1661914">
            <a:off x="5046193" y="5386014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C86119D-759F-584F-B738-CB8596D458C3}"/>
              </a:ext>
            </a:extLst>
          </p:cNvPr>
          <p:cNvSpPr/>
          <p:nvPr/>
        </p:nvSpPr>
        <p:spPr>
          <a:xfrm>
            <a:off x="643558" y="4867036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521EA0DC-56A0-FE46-D51A-4430AFBD207E}"/>
              </a:ext>
            </a:extLst>
          </p:cNvPr>
          <p:cNvSpPr/>
          <p:nvPr/>
        </p:nvSpPr>
        <p:spPr>
          <a:xfrm>
            <a:off x="9979111" y="3508002"/>
            <a:ext cx="220730" cy="28195"/>
          </a:xfrm>
          <a:custGeom>
            <a:avLst/>
            <a:gdLst/>
            <a:ahLst/>
            <a:cxnLst/>
            <a:rect l="l" t="t" r="r" b="b"/>
            <a:pathLst>
              <a:path w="69596" h="8890">
                <a:moveTo>
                  <a:pt x="0" y="0"/>
                </a:moveTo>
                <a:lnTo>
                  <a:pt x="69596" y="0"/>
                </a:lnTo>
                <a:lnTo>
                  <a:pt x="69596" y="8890"/>
                </a:lnTo>
                <a:lnTo>
                  <a:pt x="0" y="8890"/>
                </a:lnTo>
                <a:close/>
              </a:path>
            </a:pathLst>
          </a:custGeom>
          <a:solidFill>
            <a:srgbClr val="006D77"/>
          </a:solidFill>
        </p:spPr>
        <p:txBody>
          <a:bodyPr/>
          <a:lstStyle/>
          <a:p>
            <a:endParaRPr lang="ru-KZ"/>
          </a:p>
        </p:txBody>
      </p:sp>
      <p:sp>
        <p:nvSpPr>
          <p:cNvPr id="2" name="TextBox 29">
            <a:extLst>
              <a:ext uri="{FF2B5EF4-FFF2-40B4-BE49-F238E27FC236}">
                <a16:creationId xmlns:a16="http://schemas.microsoft.com/office/drawing/2014/main" id="{76F40605-9039-C93B-BFE8-A789A8F8AB8F}"/>
              </a:ext>
            </a:extLst>
          </p:cNvPr>
          <p:cNvSpPr txBox="1"/>
          <p:nvPr/>
        </p:nvSpPr>
        <p:spPr>
          <a:xfrm rot="5200762">
            <a:off x="9663868" y="3862426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46554F38-FED4-A315-84A5-D6C6C0AFD87B}"/>
              </a:ext>
            </a:extLst>
          </p:cNvPr>
          <p:cNvSpPr txBox="1"/>
          <p:nvPr/>
        </p:nvSpPr>
        <p:spPr>
          <a:xfrm>
            <a:off x="10040788" y="3672697"/>
            <a:ext cx="7042065" cy="371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Test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multi-class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clustering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directly.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Apply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declustering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before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estimating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</a:t>
            </a:r>
          </a:p>
          <a:p>
            <a:pPr algn="l">
              <a:lnSpc>
                <a:spcPts val="2212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proportions.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Compare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forest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other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classifiers.</a:t>
            </a:r>
          </a:p>
          <a:p>
            <a:pPr algn="l">
              <a:lnSpc>
                <a:spcPts val="7109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Validate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against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independent</a:t>
            </a:r>
          </a:p>
          <a:p>
            <a:pPr algn="l">
              <a:lnSpc>
                <a:spcPts val="142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29534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69"/>
          </a:xfrm>
        </p:grpSpPr>
        <p:sp>
          <p:nvSpPr>
            <p:cNvPr id="3" name="Freeform 3"/>
            <p:cNvSpPr/>
            <p:nvPr/>
          </p:nvSpPr>
          <p:spPr>
            <a:xfrm>
              <a:off x="63500" y="63499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0" y="4445"/>
                  </a:lnTo>
                  <a:lnTo>
                    <a:pt x="5759958" y="4445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4"/>
              <a:ext cx="5759958" cy="151508"/>
            </a:xfrm>
            <a:custGeom>
              <a:avLst/>
              <a:gdLst/>
              <a:ahLst/>
              <a:cxnLst/>
              <a:rect l="l" t="t" r="r" b="b"/>
              <a:pathLst>
                <a:path w="5759958" h="151508">
                  <a:moveTo>
                    <a:pt x="0" y="0"/>
                  </a:moveTo>
                  <a:lnTo>
                    <a:pt x="0" y="151507"/>
                  </a:lnTo>
                  <a:lnTo>
                    <a:pt x="5759958" y="151507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6507632"/>
            <a:ext cx="16798590" cy="2154015"/>
            <a:chOff x="0" y="0"/>
            <a:chExt cx="5296598" cy="679158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5169535" cy="197358"/>
            </a:xfrm>
            <a:custGeom>
              <a:avLst/>
              <a:gdLst/>
              <a:ahLst/>
              <a:cxnLst/>
              <a:rect l="l" t="t" r="r" b="b"/>
              <a:pathLst>
                <a:path w="5169535" h="197358">
                  <a:moveTo>
                    <a:pt x="0" y="197358"/>
                  </a:moveTo>
                  <a:lnTo>
                    <a:pt x="5169535" y="197358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3256" y="181864"/>
              <a:ext cx="69596" cy="8890"/>
            </a:xfrm>
            <a:custGeom>
              <a:avLst/>
              <a:gdLst/>
              <a:ahLst/>
              <a:cxnLst/>
              <a:rect l="l" t="t" r="r" b="b"/>
              <a:pathLst>
                <a:path w="69596" h="8890">
                  <a:moveTo>
                    <a:pt x="0" y="0"/>
                  </a:moveTo>
                  <a:lnTo>
                    <a:pt x="69596" y="0"/>
                  </a:lnTo>
                  <a:lnTo>
                    <a:pt x="69596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258318"/>
              <a:ext cx="5169535" cy="357378"/>
            </a:xfrm>
            <a:custGeom>
              <a:avLst/>
              <a:gdLst/>
              <a:ahLst/>
              <a:cxnLst/>
              <a:rect l="l" t="t" r="r" b="b"/>
              <a:pathLst>
                <a:path w="5169535" h="357378">
                  <a:moveTo>
                    <a:pt x="0" y="357378"/>
                  </a:moveTo>
                  <a:lnTo>
                    <a:pt x="5169535" y="357378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7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36247" y="-17210"/>
            <a:ext cx="3171737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6401" y="9788660"/>
            <a:ext cx="1077929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27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401" y="4669261"/>
            <a:ext cx="255843" cy="407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7401" y="2185062"/>
            <a:ext cx="255843" cy="2374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2211" spc="645" dirty="0">
                <a:solidFill>
                  <a:srgbClr val="006D77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2015" y="7341968"/>
            <a:ext cx="15971881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interpretation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remains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essential,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machine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learning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make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consistent,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9305" y="7783387"/>
            <a:ext cx="4257491" cy="48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transparent,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auditable.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6191" y="2161420"/>
            <a:ext cx="15918139" cy="295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paper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presents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practical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workflow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geological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domaining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2843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b="1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geochemical</a:t>
            </a:r>
            <a:r>
              <a:rPr lang="en-US" sz="2843" b="1" spc="28" dirty="0">
                <a:solidFill>
                  <a:srgbClr val="000000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843" b="1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data. 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Unsupervised clustering -&gt; geochemically consistent domain labels.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Ensemble SVC gives us continuous, smooth spatial domain models</a:t>
            </a: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Binary model matches </a:t>
            </a:r>
            <a:r>
              <a:rPr lang="en-US" sz="2843" spc="28" dirty="0" err="1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BlockSIS</a:t>
            </a: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 and  four-domain model outperforms </a:t>
            </a:r>
            <a:endParaRPr lang="en-US" sz="2843" spc="34" dirty="0">
              <a:solidFill>
                <a:srgbClr val="1E1F21"/>
              </a:solidFill>
              <a:latin typeface="IBM Plex Sans Condensed" panose="020B050605020300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l">
              <a:lnSpc>
                <a:spcPts val="4740"/>
              </a:lnSpc>
            </a:pPr>
            <a:r>
              <a:rPr lang="en-US" sz="2843" spc="28" dirty="0">
                <a:solidFill>
                  <a:srgbClr val="1E1F21"/>
                </a:solidFill>
                <a:latin typeface="IBM Plex Sans Condensed" panose="020B0506050203000203" pitchFamily="34" charset="0"/>
                <a:ea typeface="IBM Plex Sans Condensed"/>
                <a:cs typeface="IBM Plex Sans Condensed"/>
                <a:sym typeface="IBM Plex Sans Condensed"/>
              </a:rPr>
              <a:t>Key value: uncertainty-aware, reproducible domain definition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70281" y="6686456"/>
            <a:ext cx="4257491" cy="477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843" b="1" spc="45" dirty="0">
                <a:solidFill>
                  <a:srgbClr val="1E1F21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What we have learned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86325205-5DC4-0C50-DCC8-56BDDF0A34F6}"/>
              </a:ext>
            </a:extLst>
          </p:cNvPr>
          <p:cNvSpPr txBox="1"/>
          <p:nvPr/>
        </p:nvSpPr>
        <p:spPr>
          <a:xfrm>
            <a:off x="15697200" y="393953"/>
            <a:ext cx="7599427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43" spc="34" dirty="0">
                <a:solidFill>
                  <a:schemeClr val="bg1">
                    <a:lumMod val="50000"/>
                  </a:schemeClr>
                </a:solidFill>
                <a:latin typeface="IBM Plex Sans Condensed" panose="020F0502020204030204" pitchFamily="34" charset="0"/>
                <a:ea typeface="IBM Plex Sans Condensed"/>
                <a:cs typeface="IBM Plex Sans Condensed"/>
                <a:sym typeface="IBM Plex Sans Condensed"/>
              </a:rPr>
              <a:t>Discussion</a:t>
            </a:r>
            <a:endParaRPr lang="en-US" sz="2843" spc="28" dirty="0">
              <a:solidFill>
                <a:schemeClr val="bg1">
                  <a:lumMod val="50000"/>
                </a:schemeClr>
              </a:solidFill>
              <a:latin typeface="IBM Plex Sans Condensed" panose="020F0502020204030204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406" y="9587261"/>
            <a:ext cx="18671084" cy="897489"/>
            <a:chOff x="0" y="0"/>
            <a:chExt cx="5886996" cy="282981"/>
          </a:xfrm>
        </p:grpSpPr>
        <p:sp>
          <p:nvSpPr>
            <p:cNvPr id="3" name="Freeform 3"/>
            <p:cNvSpPr/>
            <p:nvPr/>
          </p:nvSpPr>
          <p:spPr>
            <a:xfrm>
              <a:off x="63500" y="63501"/>
              <a:ext cx="5759958" cy="4445"/>
            </a:xfrm>
            <a:custGeom>
              <a:avLst/>
              <a:gdLst/>
              <a:ahLst/>
              <a:cxnLst/>
              <a:rect l="l" t="t" r="r" b="b"/>
              <a:pathLst>
                <a:path w="5759958" h="4445">
                  <a:moveTo>
                    <a:pt x="0" y="0"/>
                  </a:moveTo>
                  <a:lnTo>
                    <a:pt x="5759958" y="0"/>
                  </a:lnTo>
                  <a:lnTo>
                    <a:pt x="5759958" y="4446"/>
                  </a:lnTo>
                  <a:lnTo>
                    <a:pt x="0" y="4446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7947"/>
              <a:ext cx="5759958" cy="151514"/>
            </a:xfrm>
            <a:custGeom>
              <a:avLst/>
              <a:gdLst/>
              <a:ahLst/>
              <a:cxnLst/>
              <a:rect l="l" t="t" r="r" b="b"/>
              <a:pathLst>
                <a:path w="5759958" h="151514">
                  <a:moveTo>
                    <a:pt x="0" y="0"/>
                  </a:moveTo>
                  <a:lnTo>
                    <a:pt x="0" y="151514"/>
                  </a:lnTo>
                  <a:lnTo>
                    <a:pt x="5759958" y="151514"/>
                  </a:lnTo>
                  <a:lnTo>
                    <a:pt x="5759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6247" y="281460"/>
            <a:ext cx="16395809" cy="395108"/>
            <a:chOff x="0" y="0"/>
            <a:chExt cx="5169599" cy="1245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9535" cy="124587"/>
            </a:xfrm>
            <a:custGeom>
              <a:avLst/>
              <a:gdLst/>
              <a:ahLst/>
              <a:cxnLst/>
              <a:rect l="l" t="t" r="r" b="b"/>
              <a:pathLst>
                <a:path w="5169535" h="124587">
                  <a:moveTo>
                    <a:pt x="0" y="124587"/>
                  </a:moveTo>
                  <a:lnTo>
                    <a:pt x="5169535" y="124587"/>
                  </a:lnTo>
                  <a:lnTo>
                    <a:pt x="51695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ru-KZ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4842" y="1019957"/>
            <a:ext cx="16798590" cy="430876"/>
            <a:chOff x="0" y="0"/>
            <a:chExt cx="5296599" cy="135852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4770" cy="8890"/>
            </a:xfrm>
            <a:custGeom>
              <a:avLst/>
              <a:gdLst/>
              <a:ahLst/>
              <a:cxnLst/>
              <a:rect l="l" t="t" r="r" b="b"/>
              <a:pathLst>
                <a:path w="64770" h="8890">
                  <a:moveTo>
                    <a:pt x="0" y="0"/>
                  </a:moveTo>
                  <a:lnTo>
                    <a:pt x="64770" y="0"/>
                  </a:lnTo>
                  <a:lnTo>
                    <a:pt x="64770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8A1538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8270" y="63500"/>
              <a:ext cx="280797" cy="8890"/>
            </a:xfrm>
            <a:custGeom>
              <a:avLst/>
              <a:gdLst/>
              <a:ahLst/>
              <a:cxnLst/>
              <a:rect l="l" t="t" r="r" b="b"/>
              <a:pathLst>
                <a:path w="280797" h="8890">
                  <a:moveTo>
                    <a:pt x="0" y="0"/>
                  </a:moveTo>
                  <a:lnTo>
                    <a:pt x="280797" y="0"/>
                  </a:lnTo>
                  <a:lnTo>
                    <a:pt x="280797" y="8890"/>
                  </a:lnTo>
                  <a:lnTo>
                    <a:pt x="0" y="8890"/>
                  </a:lnTo>
                  <a:close/>
                </a:path>
              </a:pathLst>
            </a:custGeom>
            <a:solidFill>
              <a:srgbClr val="006D77"/>
            </a:solidFill>
          </p:spPr>
          <p:txBody>
            <a:bodyPr/>
            <a:lstStyle/>
            <a:p>
              <a:endParaRPr lang="ru-KZ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09067" y="67945"/>
              <a:ext cx="4824095" cy="4445"/>
            </a:xfrm>
            <a:custGeom>
              <a:avLst/>
              <a:gdLst/>
              <a:ahLst/>
              <a:cxnLst/>
              <a:rect l="l" t="t" r="r" b="b"/>
              <a:pathLst>
                <a:path w="4824095" h="4445">
                  <a:moveTo>
                    <a:pt x="0" y="0"/>
                  </a:moveTo>
                  <a:lnTo>
                    <a:pt x="4824095" y="0"/>
                  </a:lnTo>
                  <a:lnTo>
                    <a:pt x="4824095" y="4445"/>
                  </a:lnTo>
                  <a:lnTo>
                    <a:pt x="0" y="4445"/>
                  </a:lnTo>
                  <a:close/>
                </a:path>
              </a:pathLst>
            </a:custGeom>
            <a:solidFill>
              <a:srgbClr val="C9CDD2"/>
            </a:solidFill>
          </p:spPr>
          <p:txBody>
            <a:bodyPr/>
            <a:lstStyle/>
            <a:p>
              <a:endParaRPr lang="ru-KZ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36247" y="-17210"/>
            <a:ext cx="3102830" cy="81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4550" b="1" spc="-18">
                <a:solidFill>
                  <a:srgbClr val="1E1F21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6344" y="9818266"/>
            <a:ext cx="5376716" cy="39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Domaining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Ensemble</a:t>
            </a:r>
            <a:r>
              <a:rPr lang="en-US" sz="2211" spc="-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SVC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66401" y="9755810"/>
            <a:ext cx="1087687" cy="370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/</a:t>
            </a:r>
            <a:r>
              <a:rPr lang="en-US" sz="2211" spc="-2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11" spc="-28" dirty="0">
                <a:solidFill>
                  <a:srgbClr val="4D5358"/>
                </a:solidFill>
                <a:latin typeface="IBM Plex Sans"/>
                <a:ea typeface="IBM Plex Sans"/>
                <a:cs typeface="IBM Plex Sans"/>
                <a:sym typeface="IBM Plex Sans"/>
              </a:rPr>
              <a:t>29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247" y="5151058"/>
            <a:ext cx="376348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247" y="2981878"/>
            <a:ext cx="376348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6247" y="4075365"/>
            <a:ext cx="376348" cy="41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6247" y="5719326"/>
            <a:ext cx="376348" cy="133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9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[4 [5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8552" y="3029503"/>
            <a:ext cx="15985536" cy="408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27" spc="-32" dirty="0" err="1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Koruk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, K., &amp; Ortiz, J. M. (2023). Geological domaining with unsupervised clustering and ensemble support vector classification. Mining, Metallurgy &amp; Exploration, 40, 2537–2549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2" tooltip="https://doi.org/10.1007/s42461-023-00858-3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  <a:hlinkClick r:id="rId2" tooltip="https://doi.org/10.1007/s42461-023-00858-3"/>
              </a:rPr>
              <a:t>doi:10.1007/s42461-023-00858-3</a:t>
            </a:r>
          </a:p>
          <a:p>
            <a:pPr algn="l">
              <a:lnSpc>
                <a:spcPts val="6319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Faraj,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F.,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Ortiz,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J.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(2021).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unsupervised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workflow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defining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geological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domains</a:t>
            </a:r>
          </a:p>
          <a:p>
            <a:pPr algn="l">
              <a:lnSpc>
                <a:spcPts val="1263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using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multivariate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data.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Mining,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Metallurgy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&amp;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Exploration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38,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1609–1623.</a:t>
            </a:r>
          </a:p>
          <a:p>
            <a:pPr algn="l">
              <a:lnSpc>
                <a:spcPts val="6319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Deutsch,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V.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(2006).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sequential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indicator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simulation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categorical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variables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point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block</a:t>
            </a:r>
          </a:p>
          <a:p>
            <a:pPr algn="l">
              <a:lnSpc>
                <a:spcPts val="1263"/>
              </a:lnSpc>
            </a:pPr>
            <a:r>
              <a:rPr lang="en-US" sz="2527" spc="-30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data:</a:t>
            </a:r>
            <a:r>
              <a:rPr lang="en-US" sz="2527" spc="-3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0" dirty="0" err="1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BlockSIS</a:t>
            </a:r>
            <a:r>
              <a:rPr lang="en-US" sz="2527" spc="-30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r>
              <a:rPr lang="en-US" sz="2527" i="1" spc="-30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0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Computers</a:t>
            </a:r>
            <a:r>
              <a:rPr lang="en-US" sz="2527" i="1" spc="-30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0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&amp;</a:t>
            </a:r>
            <a:r>
              <a:rPr lang="en-US" sz="2527" i="1" spc="-30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0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Geosciences</a:t>
            </a:r>
            <a:r>
              <a:rPr lang="en-US" sz="2527" spc="-30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,</a:t>
            </a:r>
            <a:r>
              <a:rPr lang="en-US" sz="2527" spc="-3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0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32,</a:t>
            </a:r>
            <a:r>
              <a:rPr lang="en-US" sz="2527" spc="-3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0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1669–1681.</a:t>
            </a:r>
          </a:p>
          <a:p>
            <a:pPr algn="l">
              <a:lnSpc>
                <a:spcPts val="6319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Rossi,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E.,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&amp;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Deutsch,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V.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(2014).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Mineral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Resource</a:t>
            </a:r>
            <a:r>
              <a:rPr lang="en-US" sz="2527" i="1" spc="-32" dirty="0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 </a:t>
            </a:r>
            <a:r>
              <a:rPr lang="en-US" sz="2527" i="1" spc="-32" dirty="0">
                <a:solidFill>
                  <a:srgbClr val="006D77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Estimation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Springer.</a:t>
            </a:r>
          </a:p>
          <a:p>
            <a:pPr algn="l">
              <a:lnSpc>
                <a:spcPts val="4898"/>
              </a:lnSpc>
            </a:pP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Madani,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N.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(2026).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MINE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304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lecture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slides: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Geo-domain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Modeling;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Mineral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Resource</a:t>
            </a:r>
            <a:r>
              <a:rPr lang="en-US" sz="2527" spc="-32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527" spc="-32" dirty="0">
                <a:solidFill>
                  <a:srgbClr val="006D77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F4FD16E506E4408CD45C16535CD4C4" ma:contentTypeVersion="6" ma:contentTypeDescription="Create a new document." ma:contentTypeScope="" ma:versionID="543b654b5d306b338fc8ffe55330e00b">
  <xsd:schema xmlns:xsd="http://www.w3.org/2001/XMLSchema" xmlns:xs="http://www.w3.org/2001/XMLSchema" xmlns:p="http://schemas.microsoft.com/office/2006/metadata/properties" xmlns:ns3="f3292c95-8a9b-4e6c-8bc8-8b27250a6b5e" targetNamespace="http://schemas.microsoft.com/office/2006/metadata/properties" ma:root="true" ma:fieldsID="98b15c50698c70b75ba428c061932ccd" ns3:_="">
    <xsd:import namespace="f3292c95-8a9b-4e6c-8bc8-8b27250a6b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92c95-8a9b-4e6c-8bc8-8b27250a6b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292c95-8a9b-4e6c-8bc8-8b27250a6b5e" xsi:nil="true"/>
  </documentManagement>
</p:properties>
</file>

<file path=customXml/itemProps1.xml><?xml version="1.0" encoding="utf-8"?>
<ds:datastoreItem xmlns:ds="http://schemas.openxmlformats.org/officeDocument/2006/customXml" ds:itemID="{70431B6E-C79F-4B18-93BD-2A800BA79A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CDEB2D-4143-4E21-BB1C-C62B4054DF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292c95-8a9b-4e6c-8bc8-8b27250a6b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489255-D07A-4EF4-9694-AC5EA548AEED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f3292c95-8a9b-4e6c-8bc8-8b27250a6b5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1991</Words>
  <Application>Microsoft Office PowerPoint</Application>
  <PresentationFormat>Custom</PresentationFormat>
  <Paragraphs>506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IBM Plex Sans Italics</vt:lpstr>
      <vt:lpstr>Arial</vt:lpstr>
      <vt:lpstr>Computer modern</vt:lpstr>
      <vt:lpstr>IBM Plex Sans Bold</vt:lpstr>
      <vt:lpstr>IBM Plex Sans Condensed</vt:lpstr>
      <vt:lpstr>IBM Plex Sans</vt:lpstr>
      <vt:lpstr>IBM Plex Sans Condensed Bold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Danial Izbanov</cp:lastModifiedBy>
  <cp:revision>5</cp:revision>
  <dcterms:created xsi:type="dcterms:W3CDTF">2006-08-16T00:00:00Z</dcterms:created>
  <dcterms:modified xsi:type="dcterms:W3CDTF">2026-04-20T13:41:11Z</dcterms:modified>
  <dc:identifier>DAHHB13e-Jo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0x0101000FF4FD16E506E4408CD45C16535CD4C4</vt:lpwstr>
  </property>
</Properties>
</file>